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84" r:id="rId5"/>
    <p:sldId id="285" r:id="rId6"/>
    <p:sldId id="286" r:id="rId7"/>
    <p:sldId id="260" r:id="rId8"/>
    <p:sldId id="259" r:id="rId9"/>
    <p:sldId id="287" r:id="rId10"/>
    <p:sldId id="288" r:id="rId11"/>
    <p:sldId id="299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8" r:id="rId21"/>
    <p:sldId id="297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  <p:sldId id="278" r:id="rId40"/>
    <p:sldId id="279" r:id="rId41"/>
    <p:sldId id="280" r:id="rId42"/>
    <p:sldId id="281" r:id="rId43"/>
    <p:sldId id="282" r:id="rId44"/>
    <p:sldId id="301" r:id="rId45"/>
    <p:sldId id="283" r:id="rId4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4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9090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47A66-7A1B-A125-FC3E-129F8518D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78B68C-05AD-B231-66F3-603916C3D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B401A1-3591-4402-A3EC-E05A96EC1A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F56A0-ABDB-520F-4626-94DB2D25D9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26350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5.png"/><Relationship Id="rId4" Type="http://schemas.openxmlformats.org/officeDocument/2006/relationships/image" Target="../media/image13.pn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4.png"/><Relationship Id="rId10" Type="http://schemas.openxmlformats.org/officeDocument/2006/relationships/image" Target="../media/image34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5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7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896" y="0"/>
            <a:ext cx="4754880" cy="5143500"/>
          </a:xfrm>
          <a:prstGeom prst="rect">
            <a:avLst/>
          </a:prstGeom>
          <a:solidFill>
            <a:srgbClr val="0D47A1"/>
          </a:solidFill>
          <a:ln/>
        </p:spPr>
      </p:sp>
      <p:pic>
        <p:nvPicPr>
          <p:cNvPr id="4" name="Image 1" descr="/home/claude/unpacked/word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777240" cy="7772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12344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PHMIS</a:t>
            </a:r>
            <a:endParaRPr lang="en-US" sz="4600" dirty="0"/>
          </a:p>
        </p:txBody>
      </p:sp>
      <p:sp>
        <p:nvSpPr>
          <p:cNvPr id="6" name="Text 2"/>
          <p:cNvSpPr/>
          <p:nvPr/>
        </p:nvSpPr>
        <p:spPr>
          <a:xfrm>
            <a:off x="365760" y="19659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800" dirty="0"/>
          </a:p>
        </p:txBody>
      </p:sp>
      <p:sp>
        <p:nvSpPr>
          <p:cNvPr id="7" name="Text 3"/>
          <p:cNvSpPr/>
          <p:nvPr/>
        </p:nvSpPr>
        <p:spPr>
          <a:xfrm>
            <a:off x="365760" y="27432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Health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Information System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365760" y="3611880"/>
            <a:ext cx="1645920" cy="457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9" name="Text 5"/>
          <p:cNvSpPr/>
          <p:nvPr/>
        </p:nvSpPr>
        <p:spPr>
          <a:xfrm>
            <a:off x="365760" y="3749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TRAINING GUIDE  |  May 2026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65760" y="4114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TPF ICT Chiefdom</a:t>
            </a: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3A6556-2C5F-0162-4DE4-7C20D699C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984" y="0"/>
            <a:ext cx="4393016" cy="5143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E6304F-EE5E-8B54-B7CF-D24B3CF348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9812" y="145406"/>
            <a:ext cx="852188" cy="8521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PHMIS Training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63093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384048" cy="630936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38404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99669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Introduction and Overview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23444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What is PHMIS and how to get started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4160520" cy="63093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64208"/>
            <a:ext cx="384048" cy="630936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664208"/>
            <a:ext cx="38404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70078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Getting Started / Login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193852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Access the system, login and password recovery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4160520" cy="63093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384048" cy="630936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368296"/>
            <a:ext cx="38404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240487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System Settings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" y="264261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Facility, pharmacy, ward, billing &amp; user management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072384"/>
            <a:ext cx="4160520" cy="63093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072384"/>
            <a:ext cx="384048" cy="630936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072384"/>
            <a:ext cx="38404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310896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Client Management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334670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Registration, card verification, advanced search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776472"/>
            <a:ext cx="4160520" cy="63093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776472"/>
            <a:ext cx="384048" cy="630936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3776472"/>
            <a:ext cx="38404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381304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Bill Payments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" y="40507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Pending bills, cashier processing, receipts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960120"/>
            <a:ext cx="4160520" cy="63093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960120"/>
            <a:ext cx="384048" cy="63093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960120"/>
            <a:ext cx="38404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93208" y="99669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Outpatient Services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93208" y="123444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Consultation, diagnosis, treatment, disposition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1664208"/>
            <a:ext cx="4160520" cy="63093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1664208"/>
            <a:ext cx="384048" cy="63093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1664208"/>
            <a:ext cx="38404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93208" y="170078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Inpatient Service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93208" y="193852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Admission, nursing care, labour &amp; delivery, discharge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2368296"/>
            <a:ext cx="4160520" cy="63093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2368296"/>
            <a:ext cx="384048" cy="63093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2368296"/>
            <a:ext cx="38404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93208" y="240487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Pharmacy Management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93208" y="264261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Receiving, requisition, dispensing, stock-taking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3072384"/>
            <a:ext cx="4160520" cy="63093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3440" y="3072384"/>
            <a:ext cx="384048" cy="63093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6" name="Text 44"/>
          <p:cNvSpPr/>
          <p:nvPr/>
        </p:nvSpPr>
        <p:spPr>
          <a:xfrm>
            <a:off x="4663440" y="3072384"/>
            <a:ext cx="38404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93208" y="310896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Investigation, RCH and Mortuary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93208" y="334670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Lab/radiology, maternal &amp; child health, mortuary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63440" y="3776472"/>
            <a:ext cx="4160520" cy="63093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63440" y="3776472"/>
            <a:ext cx="384048" cy="63093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1" name="Text 49"/>
          <p:cNvSpPr/>
          <p:nvPr/>
        </p:nvSpPr>
        <p:spPr>
          <a:xfrm>
            <a:off x="4663440" y="3776472"/>
            <a:ext cx="38404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93208" y="381304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Insurance and Reports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093208" y="40507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NHIF/CHF processing, facility &amp; MTUHA reports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823163"/>
            <a:ext cx="8641080" cy="457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PHMIS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system, purpose, scope and user roles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600" b="1" dirty="0">
                <a:solidFill>
                  <a:srgbClr val="FFFFFF"/>
                </a:solidFill>
              </a:rPr>
              <a:t>PHMIS Training</a:t>
            </a:r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We Will Cover Today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13 modules across the full patient journey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16002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91640"/>
            <a:ext cx="160020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874520"/>
            <a:ext cx="160020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1719072"/>
            <a:ext cx="201168" cy="20116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1907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47472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System Settings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993392" y="1691640"/>
            <a:ext cx="16002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993392" y="1691640"/>
            <a:ext cx="160020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Shape 11"/>
          <p:cNvSpPr/>
          <p:nvPr/>
        </p:nvSpPr>
        <p:spPr>
          <a:xfrm>
            <a:off x="1993392" y="1874520"/>
            <a:ext cx="160020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/>
          <p:nvPr/>
        </p:nvSpPr>
        <p:spPr>
          <a:xfrm>
            <a:off x="2066544" y="17190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1992" y="1719072"/>
            <a:ext cx="219456" cy="219456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17" name="Text 13"/>
          <p:cNvSpPr/>
          <p:nvPr/>
        </p:nvSpPr>
        <p:spPr>
          <a:xfrm>
            <a:off x="2066544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Client Management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3712464" y="1691640"/>
            <a:ext cx="16002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712464" y="1691640"/>
            <a:ext cx="160020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Shape 16"/>
          <p:cNvSpPr/>
          <p:nvPr/>
        </p:nvSpPr>
        <p:spPr>
          <a:xfrm>
            <a:off x="3712464" y="1874520"/>
            <a:ext cx="160020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Text 17"/>
          <p:cNvSpPr/>
          <p:nvPr/>
        </p:nvSpPr>
        <p:spPr>
          <a:xfrm>
            <a:off x="3785616" y="17190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1064" y="1719072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785616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Bill Payments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5431536" y="1691640"/>
            <a:ext cx="16002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431536" y="1691640"/>
            <a:ext cx="160020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Shape 21"/>
          <p:cNvSpPr/>
          <p:nvPr/>
        </p:nvSpPr>
        <p:spPr>
          <a:xfrm>
            <a:off x="5431536" y="1874520"/>
            <a:ext cx="160020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7" name="Text 22"/>
          <p:cNvSpPr/>
          <p:nvPr/>
        </p:nvSpPr>
        <p:spPr>
          <a:xfrm>
            <a:off x="5504688" y="17190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0136" y="1719072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04688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Triage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7150608" y="1691640"/>
            <a:ext cx="16002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150608" y="1691640"/>
            <a:ext cx="160020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2" name="Shape 26"/>
          <p:cNvSpPr/>
          <p:nvPr/>
        </p:nvSpPr>
        <p:spPr>
          <a:xfrm>
            <a:off x="7150608" y="1874520"/>
            <a:ext cx="160020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3" name="Text 27"/>
          <p:cNvSpPr/>
          <p:nvPr/>
        </p:nvSpPr>
        <p:spPr>
          <a:xfrm>
            <a:off x="7223760" y="17190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9208" y="1719072"/>
            <a:ext cx="219456" cy="21945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223760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Outpatient Services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29"/>
          <p:cNvSpPr/>
          <p:nvPr/>
        </p:nvSpPr>
        <p:spPr>
          <a:xfrm>
            <a:off x="274320" y="2788920"/>
            <a:ext cx="16002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274320" y="2788920"/>
            <a:ext cx="160020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8" name="Shape 31"/>
          <p:cNvSpPr/>
          <p:nvPr/>
        </p:nvSpPr>
        <p:spPr>
          <a:xfrm>
            <a:off x="274320" y="2971800"/>
            <a:ext cx="160020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9" name="Text 32"/>
          <p:cNvSpPr/>
          <p:nvPr/>
        </p:nvSpPr>
        <p:spPr>
          <a:xfrm>
            <a:off x="347472" y="28163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2816352"/>
            <a:ext cx="219456" cy="219456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347472" y="31089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Inpatient Services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1993392" y="2788920"/>
            <a:ext cx="16002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1993392" y="2788920"/>
            <a:ext cx="160020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4" name="Shape 36"/>
          <p:cNvSpPr/>
          <p:nvPr/>
        </p:nvSpPr>
        <p:spPr>
          <a:xfrm>
            <a:off x="1993392" y="2971800"/>
            <a:ext cx="160020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5" name="Text 37"/>
          <p:cNvSpPr/>
          <p:nvPr/>
        </p:nvSpPr>
        <p:spPr>
          <a:xfrm>
            <a:off x="2066544" y="28163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1992" y="2816352"/>
            <a:ext cx="219456" cy="219456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2066544" y="31089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RCH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39"/>
          <p:cNvSpPr/>
          <p:nvPr/>
        </p:nvSpPr>
        <p:spPr>
          <a:xfrm>
            <a:off x="3712464" y="2788920"/>
            <a:ext cx="16002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3712464" y="2788920"/>
            <a:ext cx="160020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0" name="Shape 41"/>
          <p:cNvSpPr/>
          <p:nvPr/>
        </p:nvSpPr>
        <p:spPr>
          <a:xfrm>
            <a:off x="3712464" y="2971800"/>
            <a:ext cx="160020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1" name="Text 42"/>
          <p:cNvSpPr/>
          <p:nvPr/>
        </p:nvSpPr>
        <p:spPr>
          <a:xfrm>
            <a:off x="3785616" y="28163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41064" y="2816352"/>
            <a:ext cx="219456" cy="219456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3785616" y="31089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Pharmacy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44"/>
          <p:cNvSpPr/>
          <p:nvPr/>
        </p:nvSpPr>
        <p:spPr>
          <a:xfrm>
            <a:off x="5431536" y="2788920"/>
            <a:ext cx="16002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Shape 45"/>
          <p:cNvSpPr/>
          <p:nvPr/>
        </p:nvSpPr>
        <p:spPr>
          <a:xfrm>
            <a:off x="5431536" y="2788920"/>
            <a:ext cx="160020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6" name="Shape 46"/>
          <p:cNvSpPr/>
          <p:nvPr/>
        </p:nvSpPr>
        <p:spPr>
          <a:xfrm>
            <a:off x="5431536" y="2971800"/>
            <a:ext cx="160020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7" name="Text 47"/>
          <p:cNvSpPr/>
          <p:nvPr/>
        </p:nvSpPr>
        <p:spPr>
          <a:xfrm>
            <a:off x="5504688" y="28163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0136" y="2816352"/>
            <a:ext cx="219456" cy="219456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5504688" y="31089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Investigation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49"/>
          <p:cNvSpPr/>
          <p:nvPr/>
        </p:nvSpPr>
        <p:spPr>
          <a:xfrm>
            <a:off x="7150608" y="2788920"/>
            <a:ext cx="16002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1" name="Shape 50"/>
          <p:cNvSpPr/>
          <p:nvPr/>
        </p:nvSpPr>
        <p:spPr>
          <a:xfrm>
            <a:off x="7150608" y="2788920"/>
            <a:ext cx="160020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2" name="Shape 51"/>
          <p:cNvSpPr/>
          <p:nvPr/>
        </p:nvSpPr>
        <p:spPr>
          <a:xfrm>
            <a:off x="7150608" y="2971800"/>
            <a:ext cx="160020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3" name="Text 52"/>
          <p:cNvSpPr/>
          <p:nvPr/>
        </p:nvSpPr>
        <p:spPr>
          <a:xfrm>
            <a:off x="7223760" y="28163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79208" y="2816352"/>
            <a:ext cx="219456" cy="219456"/>
          </a:xfrm>
          <a:prstGeom prst="rect">
            <a:avLst/>
          </a:prstGeom>
        </p:spPr>
      </p:pic>
      <p:sp>
        <p:nvSpPr>
          <p:cNvPr id="65" name="Text 53"/>
          <p:cNvSpPr/>
          <p:nvPr/>
        </p:nvSpPr>
        <p:spPr>
          <a:xfrm>
            <a:off x="7223760" y="31089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Prime Vendor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54"/>
          <p:cNvSpPr/>
          <p:nvPr/>
        </p:nvSpPr>
        <p:spPr>
          <a:xfrm>
            <a:off x="274320" y="3886200"/>
            <a:ext cx="16002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7" name="Shape 55"/>
          <p:cNvSpPr/>
          <p:nvPr/>
        </p:nvSpPr>
        <p:spPr>
          <a:xfrm>
            <a:off x="274320" y="3886200"/>
            <a:ext cx="160020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8" name="Shape 56"/>
          <p:cNvSpPr/>
          <p:nvPr/>
        </p:nvSpPr>
        <p:spPr>
          <a:xfrm>
            <a:off x="274320" y="4069080"/>
            <a:ext cx="160020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9" name="Text 57"/>
          <p:cNvSpPr/>
          <p:nvPr/>
        </p:nvSpPr>
        <p:spPr>
          <a:xfrm>
            <a:off x="347472" y="39136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0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2920" y="3913632"/>
            <a:ext cx="219456" cy="219456"/>
          </a:xfrm>
          <a:prstGeom prst="rect">
            <a:avLst/>
          </a:prstGeom>
        </p:spPr>
      </p:pic>
      <p:sp>
        <p:nvSpPr>
          <p:cNvPr id="71" name="Text 58"/>
          <p:cNvSpPr/>
          <p:nvPr/>
        </p:nvSpPr>
        <p:spPr>
          <a:xfrm>
            <a:off x="347472" y="4206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Mortuary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Shape 59"/>
          <p:cNvSpPr/>
          <p:nvPr/>
        </p:nvSpPr>
        <p:spPr>
          <a:xfrm>
            <a:off x="1993392" y="3886200"/>
            <a:ext cx="16002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3" name="Shape 60"/>
          <p:cNvSpPr/>
          <p:nvPr/>
        </p:nvSpPr>
        <p:spPr>
          <a:xfrm>
            <a:off x="1993392" y="3886200"/>
            <a:ext cx="160020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4" name="Shape 61"/>
          <p:cNvSpPr/>
          <p:nvPr/>
        </p:nvSpPr>
        <p:spPr>
          <a:xfrm>
            <a:off x="1993392" y="4069080"/>
            <a:ext cx="160020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5" name="Text 62"/>
          <p:cNvSpPr/>
          <p:nvPr/>
        </p:nvSpPr>
        <p:spPr>
          <a:xfrm>
            <a:off x="2066544" y="39136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6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21992" y="3913632"/>
            <a:ext cx="219456" cy="219456"/>
          </a:xfrm>
          <a:prstGeom prst="rect">
            <a:avLst/>
          </a:prstGeom>
        </p:spPr>
      </p:pic>
      <p:sp>
        <p:nvSpPr>
          <p:cNvPr id="77" name="Text 63"/>
          <p:cNvSpPr/>
          <p:nvPr/>
        </p:nvSpPr>
        <p:spPr>
          <a:xfrm>
            <a:off x="2066544" y="4206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Insurance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Shape 64"/>
          <p:cNvSpPr/>
          <p:nvPr/>
        </p:nvSpPr>
        <p:spPr>
          <a:xfrm>
            <a:off x="3712464" y="3886200"/>
            <a:ext cx="16002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9" name="Shape 65"/>
          <p:cNvSpPr/>
          <p:nvPr/>
        </p:nvSpPr>
        <p:spPr>
          <a:xfrm>
            <a:off x="3712464" y="3886200"/>
            <a:ext cx="160020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0" name="Shape 66"/>
          <p:cNvSpPr/>
          <p:nvPr/>
        </p:nvSpPr>
        <p:spPr>
          <a:xfrm>
            <a:off x="3712464" y="4069080"/>
            <a:ext cx="160020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1" name="Text 67"/>
          <p:cNvSpPr/>
          <p:nvPr/>
        </p:nvSpPr>
        <p:spPr>
          <a:xfrm>
            <a:off x="3785616" y="39136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2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41064" y="3913632"/>
            <a:ext cx="219456" cy="219456"/>
          </a:xfrm>
          <a:prstGeom prst="rect">
            <a:avLst/>
          </a:prstGeom>
        </p:spPr>
      </p:pic>
      <p:sp>
        <p:nvSpPr>
          <p:cNvPr id="83" name="Text 68"/>
          <p:cNvSpPr/>
          <p:nvPr/>
        </p:nvSpPr>
        <p:spPr>
          <a:xfrm>
            <a:off x="3785616" y="4206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Reports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FontTx/>
              <a:buNone/>
              <a:defRPr/>
            </a:pPr>
            <a:r>
              <a:rPr lang="en-US" sz="2600" b="1" dirty="0">
                <a:solidFill>
                  <a:srgbClr val="FFFFFF"/>
                </a:solidFill>
              </a:rPr>
              <a:t>PHMIS Training</a:t>
            </a:r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Getting Started: Accessing PHMIS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to log in and recover your password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594360"/>
          </a:xfrm>
          <a:prstGeom prst="rect">
            <a:avLst/>
          </a:prstGeom>
          <a:solidFill>
            <a:schemeClr val="accent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7200" y="177393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737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System URL: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960120" y="200253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https://192.168.57.80:8001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74320" y="2468880"/>
            <a:ext cx="20116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2468880"/>
            <a:ext cx="2011680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Shape 9"/>
          <p:cNvSpPr/>
          <p:nvPr/>
        </p:nvSpPr>
        <p:spPr>
          <a:xfrm>
            <a:off x="274320" y="2697480"/>
            <a:ext cx="2011680" cy="2286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/>
          <p:nvPr/>
        </p:nvSpPr>
        <p:spPr>
          <a:xfrm>
            <a:off x="384048" y="25054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 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2523744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4048" y="299008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Open Browser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384048" y="333756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Google Chrome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(recommended)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 Mozilla Firefox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2450592" y="2468880"/>
            <a:ext cx="20116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450592" y="2468880"/>
            <a:ext cx="2011680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9" name="Shape 15"/>
          <p:cNvSpPr/>
          <p:nvPr/>
        </p:nvSpPr>
        <p:spPr>
          <a:xfrm>
            <a:off x="2450592" y="2697480"/>
            <a:ext cx="2011680" cy="2286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Text 16"/>
          <p:cNvSpPr/>
          <p:nvPr/>
        </p:nvSpPr>
        <p:spPr>
          <a:xfrm>
            <a:off x="2560320" y="25054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 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6784" y="2523744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560320" y="299008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Enter URL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2560320" y="333756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Type the URL in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address bar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press Enter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4626864" y="2468880"/>
            <a:ext cx="20116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626864" y="2468880"/>
            <a:ext cx="2011680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Shape 21"/>
          <p:cNvSpPr/>
          <p:nvPr/>
        </p:nvSpPr>
        <p:spPr>
          <a:xfrm>
            <a:off x="4626864" y="2697480"/>
            <a:ext cx="2011680" cy="2286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7" name="Text 22"/>
          <p:cNvSpPr/>
          <p:nvPr/>
        </p:nvSpPr>
        <p:spPr>
          <a:xfrm>
            <a:off x="4736592" y="25054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 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163056" y="2523744"/>
            <a:ext cx="329184" cy="32918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736592" y="299008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Sign In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4736592" y="333756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login page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appears — click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Sign In button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6803136" y="2468880"/>
            <a:ext cx="20116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803136" y="2468880"/>
            <a:ext cx="2011680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3" name="Shape 27"/>
          <p:cNvSpPr/>
          <p:nvPr/>
        </p:nvSpPr>
        <p:spPr>
          <a:xfrm>
            <a:off x="6803136" y="2697480"/>
            <a:ext cx="2011680" cy="2286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4" name="Text 28"/>
          <p:cNvSpPr/>
          <p:nvPr/>
        </p:nvSpPr>
        <p:spPr>
          <a:xfrm>
            <a:off x="6912864" y="25054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 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9328" y="2523744"/>
            <a:ext cx="329184" cy="32918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912864" y="299008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Enter Credentials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0"/>
          <p:cNvSpPr/>
          <p:nvPr/>
        </p:nvSpPr>
        <p:spPr>
          <a:xfrm>
            <a:off x="6912864" y="333756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Enter your username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password then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Sign In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1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11480" y="4736592"/>
            <a:ext cx="228600" cy="22860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13232" y="47091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Forgot Password? Click 'Forgot Password', enter your username → </a:t>
            </a:r>
            <a:r>
              <a:rPr lang="en-US" sz="1000" dirty="0">
                <a:solidFill>
                  <a:srgbClr val="92400E"/>
                </a:solidFill>
                <a:latin typeface="Calibri" panose="020F0502020204030204"/>
              </a:rPr>
              <a:t>Answer Security Question Based on NIDA Information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600" b="1" dirty="0">
                <a:solidFill>
                  <a:srgbClr val="FFFFFF"/>
                </a:solidFill>
              </a:rPr>
              <a:t>PHMIS Training</a:t>
            </a:r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User Types and Roles (RBAC)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 user sees only the modules relevant to their role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1691640"/>
            <a:ext cx="160020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691640"/>
            <a:ext cx="16002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2240280"/>
            <a:ext cx="1600200" cy="18288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64792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1752" y="24871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System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Administrator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20040" y="2962656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Full access to ALL modules. Setup, facility creation, user management. Only ONE super admin per organization.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984248" y="1691640"/>
            <a:ext cx="160020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984248" y="1691640"/>
            <a:ext cx="1600200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Shape 11"/>
          <p:cNvSpPr/>
          <p:nvPr/>
        </p:nvSpPr>
        <p:spPr>
          <a:xfrm>
            <a:off x="1984248" y="2240280"/>
            <a:ext cx="1600200" cy="18288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608" y="1764792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57400" y="24871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Medical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Personnel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2075688" y="2962656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Nurses, Clinicians, Pharmacists, Lab Technicians, Anesthetists. Access limited to their department.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3739896" y="1691640"/>
            <a:ext cx="160020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739896" y="1691640"/>
            <a:ext cx="1600200" cy="731520"/>
          </a:xfrm>
          <a:prstGeom prst="rect">
            <a:avLst/>
          </a:prstGeom>
          <a:solidFill>
            <a:srgbClr val="1E6B2E"/>
          </a:solidFill>
          <a:ln/>
        </p:spPr>
      </p:sp>
      <p:sp>
        <p:nvSpPr>
          <p:cNvPr id="20" name="Shape 16"/>
          <p:cNvSpPr/>
          <p:nvPr/>
        </p:nvSpPr>
        <p:spPr>
          <a:xfrm>
            <a:off x="3739896" y="2240280"/>
            <a:ext cx="1600200" cy="182880"/>
          </a:xfrm>
          <a:prstGeom prst="rect">
            <a:avLst/>
          </a:prstGeom>
          <a:solidFill>
            <a:srgbClr val="1E6B2E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56" y="1764792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813048" y="24871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E6B2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Admin /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E6B2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In-Charge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3831336" y="2962656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Oversees facility operations. Extra access to Reports, Staff Performance and Patient Tracer.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5495544" y="1691640"/>
            <a:ext cx="160020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495544" y="1691640"/>
            <a:ext cx="1600200" cy="731520"/>
          </a:xfrm>
          <a:prstGeom prst="rect">
            <a:avLst/>
          </a:prstGeom>
          <a:solidFill>
            <a:srgbClr val="7B3800"/>
          </a:solidFill>
          <a:ln/>
        </p:spPr>
      </p:sp>
      <p:sp>
        <p:nvSpPr>
          <p:cNvPr id="26" name="Shape 21"/>
          <p:cNvSpPr/>
          <p:nvPr/>
        </p:nvSpPr>
        <p:spPr>
          <a:xfrm>
            <a:off x="5495544" y="2240280"/>
            <a:ext cx="1600200" cy="182880"/>
          </a:xfrm>
          <a:prstGeom prst="rect">
            <a:avLst/>
          </a:prstGeom>
          <a:solidFill>
            <a:srgbClr val="7B3800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904" y="1764792"/>
            <a:ext cx="402336" cy="40233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68696" y="24871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7B38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Accountant /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7B38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MTUHA Focal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5586984" y="2962656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Handles financial reporting and MTUHA (national health reporting) submissions.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7251192" y="1691640"/>
            <a:ext cx="160020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251192" y="1691640"/>
            <a:ext cx="1600200" cy="731520"/>
          </a:xfrm>
          <a:prstGeom prst="rect">
            <a:avLst/>
          </a:prstGeom>
          <a:solidFill>
            <a:srgbClr val="4A1078"/>
          </a:solidFill>
          <a:ln/>
        </p:spPr>
      </p:sp>
      <p:sp>
        <p:nvSpPr>
          <p:cNvPr id="32" name="Shape 26"/>
          <p:cNvSpPr/>
          <p:nvPr/>
        </p:nvSpPr>
        <p:spPr>
          <a:xfrm>
            <a:off x="7251192" y="2240280"/>
            <a:ext cx="1600200" cy="182880"/>
          </a:xfrm>
          <a:prstGeom prst="rect">
            <a:avLst/>
          </a:prstGeom>
          <a:solidFill>
            <a:srgbClr val="4A1078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5552" y="1764792"/>
            <a:ext cx="402336" cy="40233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324344" y="24871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A107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Managerial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7342632" y="2962656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Dashboard view only. Sees aggregated reports across multiple facilities. Read-only.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29"/>
          <p:cNvSpPr/>
          <p:nvPr/>
        </p:nvSpPr>
        <p:spPr>
          <a:xfrm>
            <a:off x="228600" y="4736592"/>
            <a:ext cx="8686800" cy="2743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7" name="Text 30"/>
          <p:cNvSpPr/>
          <p:nvPr/>
        </p:nvSpPr>
        <p:spPr>
          <a:xfrm>
            <a:off x="411480" y="475488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Principle: Role-Based Access Control (RBAC) — users can only access modules assigned to their role. All access is enforced server-side.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P</a:t>
            </a:r>
            <a:r>
              <a:rPr lang="en-US" sz="1800" b="1" dirty="0">
                <a:solidFill>
                  <a:srgbClr val="FFFFFF"/>
                </a:solidFill>
              </a:rPr>
              <a:t>HMIS Users and Roles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29768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201168" cy="896112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960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Receptionist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648" y="123444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Registers patients, verifies cards, manages client visits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892808"/>
            <a:ext cx="429768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892808"/>
            <a:ext cx="201168" cy="89611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19842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Clinician/Doctor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" y="225856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Consultation, diagnosis, investigation requests, treatment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916936"/>
            <a:ext cx="429768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916936"/>
            <a:ext cx="201168" cy="896112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" y="30083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Nurse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" y="328269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Vital signs (Triage), nursing care, inpatient charting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941064"/>
            <a:ext cx="429768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941064"/>
            <a:ext cx="201168" cy="89611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" y="40325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Pharmacist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" y="430682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Dispenses medicines, manages stock, handles requisitions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868680"/>
            <a:ext cx="429768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868680"/>
            <a:ext cx="201168" cy="8961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5047488" y="960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Lab/Radiology Tech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47488" y="123444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Posts investigation results, handles sample collection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1892808"/>
            <a:ext cx="429768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892808"/>
            <a:ext cx="201168" cy="89611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6" name="Text 24"/>
          <p:cNvSpPr/>
          <p:nvPr/>
        </p:nvSpPr>
        <p:spPr>
          <a:xfrm>
            <a:off x="5047488" y="19842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Cashier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47488" y="225856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Processes bill payments, generates receipts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2916936"/>
            <a:ext cx="429768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916936"/>
            <a:ext cx="201168" cy="896112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0" name="Text 28"/>
          <p:cNvSpPr/>
          <p:nvPr/>
        </p:nvSpPr>
        <p:spPr>
          <a:xfrm>
            <a:off x="5047488" y="30083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System Admin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47488" y="328269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User management, system settings, facility configuration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941064"/>
            <a:ext cx="429768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941064"/>
            <a:ext cx="201168" cy="896112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4" name="Text 32"/>
          <p:cNvSpPr/>
          <p:nvPr/>
        </p:nvSpPr>
        <p:spPr>
          <a:xfrm>
            <a:off x="5047488" y="40325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Report Officer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47488" y="430682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Generates facility, MTUHA and operational reports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is </a:t>
            </a:r>
            <a:r>
              <a:rPr lang="en-US" b="1" dirty="0">
                <a:solidFill>
                  <a:srgbClr val="FFFFFF"/>
                </a:solidFill>
              </a:rPr>
              <a:t>P</a:t>
            </a:r>
            <a:r>
              <a:rPr lang="en-US" sz="1800" b="1" dirty="0">
                <a:solidFill>
                  <a:srgbClr val="FFFFFF"/>
                </a:solidFill>
              </a:rPr>
              <a:t>HMIS?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434840" y="777240"/>
            <a:ext cx="43891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434840" y="777240"/>
            <a:ext cx="64008" cy="100584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0" y="85039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Police Health Management Information System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0" y="112471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Centralizes patient data and digitalizes health operations across TPF facilities.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34840" y="1892808"/>
            <a:ext cx="43891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4840" y="1892808"/>
            <a:ext cx="64008" cy="100584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0" y="19659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TPF Health Facilities 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0" y="22402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Targets more than 32 TPF facilities by July 2026 in collaboration with Health Command.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434840" y="3008376"/>
            <a:ext cx="43891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34840" y="3008376"/>
            <a:ext cx="64008" cy="100584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0" y="308152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Key Benefits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0" y="335584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Better patient records, resource management, disease tracking and staff capacity building.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8" name="Text 15"/>
          <p:cNvSpPr/>
          <p:nvPr/>
        </p:nvSpPr>
        <p:spPr>
          <a:xfrm>
            <a:off x="320040" y="481888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976D2"/>
                </a:solidFill>
              </a:rPr>
              <a:t>💡 PHMIS is accessible at: 192.168.0........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52979BD-9760-8617-1858-D43AF541E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" y="643055"/>
            <a:ext cx="4389120" cy="44939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0"/>
            <a:ext cx="621792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2926080" y="0"/>
            <a:ext cx="64008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600" b="1" dirty="0">
                <a:solidFill>
                  <a:srgbClr val="FFFFFF"/>
                </a:solidFill>
              </a:rPr>
              <a:t>PHMIS</a:t>
            </a:r>
          </a:p>
        </p:txBody>
      </p:sp>
      <p:sp>
        <p:nvSpPr>
          <p:cNvPr id="6" name="Text 4"/>
          <p:cNvSpPr/>
          <p:nvPr/>
        </p:nvSpPr>
        <p:spPr>
          <a:xfrm>
            <a:off x="3200400" y="137160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 1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System Settings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Configuration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Training Module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0" y="3566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BEFORE clinical modules can be used, the facility must be fully configured.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7200" y="1097280"/>
            <a:ext cx="1920240" cy="192024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FontTx/>
              <a:buNone/>
              <a:defRPr/>
            </a:pPr>
            <a:r>
              <a:rPr lang="en-US" sz="2600" b="1" dirty="0">
                <a:solidFill>
                  <a:srgbClr val="FFFFFF"/>
                </a:solidFill>
              </a:rPr>
              <a:t>PHMIS Training</a:t>
            </a:r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 1: System Settings and Configuration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Foundational setup — must be done in order before going live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1673352"/>
            <a:ext cx="278892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673352"/>
            <a:ext cx="54864" cy="987552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46504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73736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Facility Management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214884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Update facility name and address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172968" y="1673352"/>
            <a:ext cx="278892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72968" y="1673352"/>
            <a:ext cx="54864" cy="987552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74650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21608" y="173736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Facility Item Mapping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310128" y="214884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Map all services, medications, investigations to the facility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117336" y="1673352"/>
            <a:ext cx="278892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17336" y="1673352"/>
            <a:ext cx="54864" cy="987552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1746504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65976" y="173736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Item Pricing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6254496" y="214884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Set prices (bulk CSV upload or manual entry). Zero price for insurance/exempt items.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228600" y="2770632"/>
            <a:ext cx="278892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28600" y="2770632"/>
            <a:ext cx="54864" cy="987552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2843784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77240" y="283464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Cost Sharing Groups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365760" y="324612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 patient categories: user fee, insurance, exemption + sub-groups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3172968" y="2770632"/>
            <a:ext cx="278892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172968" y="2770632"/>
            <a:ext cx="54864" cy="987552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2843784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721608" y="283464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Pharmacy Stores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3310128" y="324612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 stores, assign user access (full or partial), register vendors, set reorder levels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4"/>
          <p:cNvSpPr/>
          <p:nvPr/>
        </p:nvSpPr>
        <p:spPr>
          <a:xfrm>
            <a:off x="6117336" y="2770632"/>
            <a:ext cx="278892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117336" y="2770632"/>
            <a:ext cx="54864" cy="987552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496" y="2843784"/>
            <a:ext cx="329184" cy="32918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665976" y="283464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Ward Management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6254496" y="324612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 ward types, wards, add beds, assign nurses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228600" y="3867912"/>
            <a:ext cx="278892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228600" y="3867912"/>
            <a:ext cx="54864" cy="987552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" y="3941064"/>
            <a:ext cx="329184" cy="32918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77240" y="393192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Investigation Setup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1"/>
          <p:cNvSpPr/>
          <p:nvPr/>
        </p:nvSpPr>
        <p:spPr>
          <a:xfrm>
            <a:off x="365760" y="434340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Map lab and radiology tests to departments; assign departmental user access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2"/>
          <p:cNvSpPr/>
          <p:nvPr/>
        </p:nvSpPr>
        <p:spPr>
          <a:xfrm>
            <a:off x="3172968" y="3867912"/>
            <a:ext cx="278892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3172968" y="3867912"/>
            <a:ext cx="54864" cy="987552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941064"/>
            <a:ext cx="329184" cy="329184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3721608" y="393192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Billing / GEPG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35"/>
          <p:cNvSpPr/>
          <p:nvPr/>
        </p:nvSpPr>
        <p:spPr>
          <a:xfrm>
            <a:off x="3310128" y="434340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Configure payment modes. Facilities MUST use Government Electronic Payment Gateway (GEPG).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36"/>
          <p:cNvSpPr/>
          <p:nvPr/>
        </p:nvSpPr>
        <p:spPr>
          <a:xfrm>
            <a:off x="6117336" y="3867912"/>
            <a:ext cx="278892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6117336" y="3867912"/>
            <a:ext cx="54864" cy="987552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54496" y="3941064"/>
            <a:ext cx="329184" cy="329184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6665976" y="393192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User Management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39"/>
          <p:cNvSpPr/>
          <p:nvPr/>
        </p:nvSpPr>
        <p:spPr>
          <a:xfrm>
            <a:off x="6254496" y="434340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Register users using Check Number (C/N required). Assign roles and departments.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600" b="1" dirty="0">
                <a:solidFill>
                  <a:srgbClr val="FFFFFF"/>
                </a:solidFill>
              </a:rPr>
              <a:t>PHMIS Training</a:t>
            </a:r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Complete Patient Journey in PHMIS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step is connected — from arrival to discharge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1691640"/>
            <a:ext cx="1600200" cy="1353312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746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746504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33172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Arrive at Facility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856232" y="2276856"/>
            <a:ext cx="109728" cy="1463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Shape 8"/>
          <p:cNvSpPr/>
          <p:nvPr/>
        </p:nvSpPr>
        <p:spPr>
          <a:xfrm>
            <a:off x="1984248" y="1691640"/>
            <a:ext cx="1600200" cy="1353312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075688" y="1746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76" y="1746504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75688" y="233172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Registration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(MRN Generated)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3611880" y="2276856"/>
            <a:ext cx="109728" cy="1463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Shape 12"/>
          <p:cNvSpPr/>
          <p:nvPr/>
        </p:nvSpPr>
        <p:spPr>
          <a:xfrm>
            <a:off x="3739896" y="1691640"/>
            <a:ext cx="1600200" cy="1353312"/>
          </a:xfrm>
          <a:prstGeom prst="rect">
            <a:avLst/>
          </a:prstGeom>
          <a:solidFill>
            <a:srgbClr val="7B380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3831336" y="1746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6824" y="1746504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31336" y="233172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Pay Bill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(GEPG / Cash)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5367528" y="2276856"/>
            <a:ext cx="109728" cy="1463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Shape 16"/>
          <p:cNvSpPr/>
          <p:nvPr/>
        </p:nvSpPr>
        <p:spPr>
          <a:xfrm>
            <a:off x="5495544" y="1691640"/>
            <a:ext cx="1600200" cy="1353312"/>
          </a:xfrm>
          <a:prstGeom prst="rect">
            <a:avLst/>
          </a:prstGeom>
          <a:solidFill>
            <a:srgbClr val="1E6B2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5586984" y="1746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472" y="1746504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86984" y="233172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Triage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(Vital Signs)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7123176" y="2276856"/>
            <a:ext cx="109728" cy="1463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Shape 20"/>
          <p:cNvSpPr/>
          <p:nvPr/>
        </p:nvSpPr>
        <p:spPr>
          <a:xfrm>
            <a:off x="7251192" y="1691640"/>
            <a:ext cx="1600200" cy="1353312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7342632" y="1746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1746504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342632" y="233172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Consultation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228600" y="3337560"/>
            <a:ext cx="1600200" cy="1353312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320040" y="3392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528" y="3392424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20040" y="397764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Investigations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(Lab / X-ray)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1856232" y="3922776"/>
            <a:ext cx="109728" cy="1463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5" name="Shape 27"/>
          <p:cNvSpPr/>
          <p:nvPr/>
        </p:nvSpPr>
        <p:spPr>
          <a:xfrm>
            <a:off x="1984248" y="3337560"/>
            <a:ext cx="1600200" cy="1353312"/>
          </a:xfrm>
          <a:prstGeom prst="rect">
            <a:avLst/>
          </a:prstGeom>
          <a:solidFill>
            <a:srgbClr val="7B380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28"/>
          <p:cNvSpPr/>
          <p:nvPr/>
        </p:nvSpPr>
        <p:spPr>
          <a:xfrm>
            <a:off x="2075688" y="3392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51176" y="3392424"/>
            <a:ext cx="457200" cy="45720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2075688" y="397764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Pharmacy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(Dispensing)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0"/>
          <p:cNvSpPr/>
          <p:nvPr/>
        </p:nvSpPr>
        <p:spPr>
          <a:xfrm>
            <a:off x="3611880" y="3922776"/>
            <a:ext cx="109728" cy="1463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0" name="Shape 31"/>
          <p:cNvSpPr/>
          <p:nvPr/>
        </p:nvSpPr>
        <p:spPr>
          <a:xfrm>
            <a:off x="3739896" y="3337560"/>
            <a:ext cx="1600200" cy="1353312"/>
          </a:xfrm>
          <a:prstGeom prst="rect">
            <a:avLst/>
          </a:prstGeom>
          <a:solidFill>
            <a:srgbClr val="4A107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2"/>
          <p:cNvSpPr/>
          <p:nvPr/>
        </p:nvSpPr>
        <p:spPr>
          <a:xfrm>
            <a:off x="3831336" y="3392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06824" y="3392424"/>
            <a:ext cx="457200" cy="45720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3831336" y="397764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Disposition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(OPD Out / Admit)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34"/>
          <p:cNvSpPr/>
          <p:nvPr/>
        </p:nvSpPr>
        <p:spPr>
          <a:xfrm>
            <a:off x="5367528" y="3922776"/>
            <a:ext cx="109728" cy="1463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5" name="Shape 35"/>
          <p:cNvSpPr/>
          <p:nvPr/>
        </p:nvSpPr>
        <p:spPr>
          <a:xfrm>
            <a:off x="5495544" y="3337560"/>
            <a:ext cx="1600200" cy="1353312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36"/>
          <p:cNvSpPr/>
          <p:nvPr/>
        </p:nvSpPr>
        <p:spPr>
          <a:xfrm>
            <a:off x="5586984" y="3392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62472" y="3392424"/>
            <a:ext cx="457200" cy="45720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5586984" y="397764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Inpatient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(If Admitted)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38"/>
          <p:cNvSpPr/>
          <p:nvPr/>
        </p:nvSpPr>
        <p:spPr>
          <a:xfrm>
            <a:off x="7123176" y="3922776"/>
            <a:ext cx="109728" cy="1463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0" name="Shape 39"/>
          <p:cNvSpPr/>
          <p:nvPr/>
        </p:nvSpPr>
        <p:spPr>
          <a:xfrm>
            <a:off x="7251192" y="3337560"/>
            <a:ext cx="1600200" cy="1353312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Text 40"/>
          <p:cNvSpPr/>
          <p:nvPr/>
        </p:nvSpPr>
        <p:spPr>
          <a:xfrm>
            <a:off x="7342632" y="3392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18120" y="3392424"/>
            <a:ext cx="457200" cy="457200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7342632" y="397764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Discharge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Reports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600" b="1" dirty="0">
                <a:solidFill>
                  <a:srgbClr val="FFFFFF"/>
                </a:solidFill>
              </a:rPr>
              <a:t>PHMIS Training</a:t>
            </a:r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 2: Client Management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Patient registration, search, visit management and referrals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1664208"/>
            <a:ext cx="420624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737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Registration Workflow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84048" y="2167128"/>
            <a:ext cx="256032" cy="256032"/>
          </a:xfrm>
          <a:prstGeom prst="lin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2167128"/>
            <a:ext cx="256032" cy="256032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13232" y="21488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Navigate to Client Management → Client Registration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84048" y="2551176"/>
            <a:ext cx="256032" cy="256032"/>
          </a:xfrm>
          <a:prstGeom prst="lin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2551176"/>
            <a:ext cx="256032" cy="256032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13232" y="253288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Full Registration to include Next-of-Kin details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84048" y="2935224"/>
            <a:ext cx="256032" cy="256032"/>
          </a:xfrm>
          <a:prstGeom prst="lin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935224"/>
            <a:ext cx="256032" cy="256032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13232" y="291693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Fill all required fields and click Submit Form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84048" y="3319272"/>
            <a:ext cx="256032" cy="256032"/>
          </a:xfrm>
          <a:prstGeom prst="lin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319272"/>
            <a:ext cx="256032" cy="256032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3232" y="330098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Select Category, Sub-Category, Service and Department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84048" y="3703320"/>
            <a:ext cx="256032" cy="256032"/>
          </a:xfrm>
          <a:prstGeom prst="lin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3703320"/>
            <a:ext cx="256032" cy="256032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13232" y="36850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Choose visit type: Normal or Referral Visit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84048" y="4087368"/>
            <a:ext cx="256032" cy="256032"/>
          </a:xfrm>
          <a:prstGeom prst="lin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4087368"/>
            <a:ext cx="256032" cy="256032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13232" y="40690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Start Visit → System generates unique MRN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84048" y="4471416"/>
            <a:ext cx="256032" cy="256032"/>
          </a:xfrm>
          <a:prstGeom prst="lin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4471416"/>
            <a:ext cx="256032" cy="256032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13232" y="445312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Print patient card with MRN for the patient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663440" y="1664208"/>
            <a:ext cx="425196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1737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Sub-Modules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185416"/>
            <a:ext cx="274320" cy="27432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5166360" y="21671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Card Verification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5166360" y="24048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Verify NHIF/CHF insurance cards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651760"/>
            <a:ext cx="274320" cy="27432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166360" y="26334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Advanced Search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2"/>
          <p:cNvSpPr/>
          <p:nvPr/>
        </p:nvSpPr>
        <p:spPr>
          <a:xfrm>
            <a:off x="5166360" y="287121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Search by name, MRN, DOB, or date range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118104"/>
            <a:ext cx="274320" cy="27432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166360" y="30998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Patient Category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4"/>
          <p:cNvSpPr/>
          <p:nvPr/>
        </p:nvSpPr>
        <p:spPr>
          <a:xfrm>
            <a:off x="5166360" y="33375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Change cost-sharing group (future bills only)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584448"/>
            <a:ext cx="274320" cy="27432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5166360" y="35661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Payment Mode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6"/>
          <p:cNvSpPr/>
          <p:nvPr/>
        </p:nvSpPr>
        <p:spPr>
          <a:xfrm>
            <a:off x="5166360" y="380390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Switch Prepaid / Postpaid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4050792"/>
            <a:ext cx="274320" cy="27432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5166360" y="40325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End Client Visit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38"/>
          <p:cNvSpPr/>
          <p:nvPr/>
        </p:nvSpPr>
        <p:spPr>
          <a:xfrm>
            <a:off x="5166360" y="42702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Close visit. NHIF: digital sign-off required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4410665"/>
            <a:ext cx="274320" cy="27432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5166360" y="44988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Incoming Referrals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5166360" y="47365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View &amp; process referrals from other facilities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1"/>
          <p:cNvSpPr/>
          <p:nvPr/>
        </p:nvSpPr>
        <p:spPr>
          <a:xfrm>
            <a:off x="228600" y="4709160"/>
            <a:ext cx="8686800" cy="301752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50" name="Text 42"/>
          <p:cNvSpPr/>
          <p:nvPr/>
        </p:nvSpPr>
        <p:spPr>
          <a:xfrm>
            <a:off x="411480" y="4736592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65F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MRN (Medical Record Number): Each patient receives a unique MRN upon first registration. Always use MRN to look up patients in any module.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FontTx/>
              <a:buNone/>
              <a:defRPr/>
            </a:pPr>
            <a:r>
              <a:rPr lang="en-US" sz="2600" b="1" dirty="0">
                <a:solidFill>
                  <a:srgbClr val="FFFFFF"/>
                </a:solidFill>
              </a:rPr>
              <a:t>PHMIS Training</a:t>
            </a:r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 3: Bill Payments  |  Module 4: Triage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Billing must be settled before clinical consultation begins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1664208"/>
            <a:ext cx="4251960" cy="32186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664208"/>
            <a:ext cx="425196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1920240"/>
            <a:ext cx="4251960" cy="128016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719072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4944" y="17190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Bill Payments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47472" y="2194560"/>
            <a:ext cx="16459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585216" y="217627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Pending Bills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47472" y="240487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Search by MRN → view service lines → select → Collect Cash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47472" y="2715768"/>
            <a:ext cx="16459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2"/>
          <p:cNvSpPr/>
          <p:nvPr/>
        </p:nvSpPr>
        <p:spPr>
          <a:xfrm>
            <a:off x="585216" y="269748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GEPG Payment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47472" y="292608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Generate Control Number → patient pays via bank/mobile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47472" y="3236976"/>
            <a:ext cx="16459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5"/>
          <p:cNvSpPr/>
          <p:nvPr/>
        </p:nvSpPr>
        <p:spPr>
          <a:xfrm>
            <a:off x="585216" y="321868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Cashier Bills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47472" y="344728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View all bills processed by cashier within a date range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47472" y="3758184"/>
            <a:ext cx="16459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8"/>
          <p:cNvSpPr/>
          <p:nvPr/>
        </p:nvSpPr>
        <p:spPr>
          <a:xfrm>
            <a:off x="585216" y="3739896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Reprint Receipt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47472" y="396849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Enter MRN → find bill → click Print to reprint receipt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47472" y="4279392"/>
            <a:ext cx="16459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Text 21"/>
          <p:cNvSpPr/>
          <p:nvPr/>
        </p:nvSpPr>
        <p:spPr>
          <a:xfrm>
            <a:off x="585216" y="426110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Bill Cancellation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47472" y="448970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Request cancellation → Approve Cancelled Bills workflow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663440" y="1664208"/>
            <a:ext cx="4251960" cy="32186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663440" y="1664208"/>
            <a:ext cx="4251960" cy="384048"/>
          </a:xfrm>
          <a:prstGeom prst="rect">
            <a:avLst/>
          </a:prstGeom>
          <a:solidFill>
            <a:srgbClr val="1E6B2E"/>
          </a:solidFill>
          <a:ln/>
        </p:spPr>
      </p:sp>
      <p:sp>
        <p:nvSpPr>
          <p:cNvPr id="28" name="Shape 25"/>
          <p:cNvSpPr/>
          <p:nvPr/>
        </p:nvSpPr>
        <p:spPr>
          <a:xfrm>
            <a:off x="4663440" y="1920240"/>
            <a:ext cx="4251960" cy="128016"/>
          </a:xfrm>
          <a:prstGeom prst="rect">
            <a:avLst/>
          </a:prstGeom>
          <a:solidFill>
            <a:srgbClr val="1E6B2E"/>
          </a:solidFill>
          <a:ln/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719072"/>
            <a:ext cx="292608" cy="29260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120640" y="17190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Triage – Vital Signs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4800600" y="21488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Captured BEFORE consultation to assess patient priority: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8"/>
          <p:cNvSpPr/>
          <p:nvPr/>
        </p:nvSpPr>
        <p:spPr>
          <a:xfrm>
            <a:off x="4800600" y="2560320"/>
            <a:ext cx="1883664" cy="420624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4864608" y="261518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E6B2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Blood Pressure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0"/>
          <p:cNvSpPr/>
          <p:nvPr/>
        </p:nvSpPr>
        <p:spPr>
          <a:xfrm>
            <a:off x="6830568" y="2560320"/>
            <a:ext cx="1883664" cy="420624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1"/>
          <p:cNvSpPr/>
          <p:nvPr/>
        </p:nvSpPr>
        <p:spPr>
          <a:xfrm>
            <a:off x="6894576" y="261518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E6B2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Body Weight &amp; Height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2"/>
          <p:cNvSpPr/>
          <p:nvPr/>
        </p:nvSpPr>
        <p:spPr>
          <a:xfrm>
            <a:off x="4800600" y="3090672"/>
            <a:ext cx="1883664" cy="420624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3"/>
          <p:cNvSpPr/>
          <p:nvPr/>
        </p:nvSpPr>
        <p:spPr>
          <a:xfrm>
            <a:off x="4864608" y="31455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E6B2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Oxygen Saturation (SpO₂)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4"/>
          <p:cNvSpPr/>
          <p:nvPr/>
        </p:nvSpPr>
        <p:spPr>
          <a:xfrm>
            <a:off x="6830568" y="3090672"/>
            <a:ext cx="1883664" cy="420624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5"/>
          <p:cNvSpPr/>
          <p:nvPr/>
        </p:nvSpPr>
        <p:spPr>
          <a:xfrm>
            <a:off x="6894576" y="31455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E6B2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Pulse Rate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6"/>
          <p:cNvSpPr/>
          <p:nvPr/>
        </p:nvSpPr>
        <p:spPr>
          <a:xfrm>
            <a:off x="4800600" y="3621024"/>
            <a:ext cx="1883664" cy="420624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7"/>
          <p:cNvSpPr/>
          <p:nvPr/>
        </p:nvSpPr>
        <p:spPr>
          <a:xfrm>
            <a:off x="4864608" y="36758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E6B2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Temperature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8"/>
          <p:cNvSpPr/>
          <p:nvPr/>
        </p:nvSpPr>
        <p:spPr>
          <a:xfrm>
            <a:off x="6830568" y="3621024"/>
            <a:ext cx="1883664" cy="420624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39"/>
          <p:cNvSpPr/>
          <p:nvPr/>
        </p:nvSpPr>
        <p:spPr>
          <a:xfrm>
            <a:off x="6894576" y="36758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E6B2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Respiratory Rate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0"/>
          <p:cNvSpPr/>
          <p:nvPr/>
        </p:nvSpPr>
        <p:spPr>
          <a:xfrm>
            <a:off x="4800600" y="420624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Nurse enters MRN → clicks Attend → adds vital signs → saves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1"/>
          <p:cNvSpPr/>
          <p:nvPr/>
        </p:nvSpPr>
        <p:spPr>
          <a:xfrm>
            <a:off x="228600" y="4727448"/>
            <a:ext cx="8686800" cy="292608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4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4782312"/>
            <a:ext cx="219456" cy="219456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640080" y="475488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Patient's bill must be SETTLED before the Attend button appears in the OPD consultation module.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600" b="1" dirty="0">
                <a:solidFill>
                  <a:srgbClr val="FFFFFF"/>
                </a:solidFill>
              </a:rPr>
              <a:t>PHMIS Training</a:t>
            </a:r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 5: Outpatient Services (OPD)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Full clinical workflow from consultation to disposition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1719072"/>
            <a:ext cx="1600200" cy="1024128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" y="210312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Consultation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(Bill Settled?)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856232" y="2121408"/>
            <a:ext cx="91440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1984248" y="1719072"/>
            <a:ext cx="1600200" cy="1024128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75688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075688" y="210312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Clerk Sheet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(Complaints)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611880" y="2121408"/>
            <a:ext cx="91440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Shape 12"/>
          <p:cNvSpPr/>
          <p:nvPr/>
        </p:nvSpPr>
        <p:spPr>
          <a:xfrm>
            <a:off x="3739896" y="1719072"/>
            <a:ext cx="1600200" cy="1024128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31336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831336" y="210312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Vitals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Entry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367528" y="2121408"/>
            <a:ext cx="91440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Shape 16"/>
          <p:cNvSpPr/>
          <p:nvPr/>
        </p:nvSpPr>
        <p:spPr>
          <a:xfrm>
            <a:off x="5495544" y="1719072"/>
            <a:ext cx="1600200" cy="1024128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86984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586984" y="210312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Diagnosis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(ICD-10)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123176" y="2121408"/>
            <a:ext cx="91440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Shape 20"/>
          <p:cNvSpPr/>
          <p:nvPr/>
        </p:nvSpPr>
        <p:spPr>
          <a:xfrm>
            <a:off x="7251192" y="1719072"/>
            <a:ext cx="1600200" cy="1024128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42632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42632" y="210312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Investigation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Orders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28600" y="3035808"/>
            <a:ext cx="1600200" cy="1024128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20040" y="341985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Results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Review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856232" y="3438144"/>
            <a:ext cx="91440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9" name="Shape 27"/>
          <p:cNvSpPr/>
          <p:nvPr/>
        </p:nvSpPr>
        <p:spPr>
          <a:xfrm>
            <a:off x="1984248" y="3035808"/>
            <a:ext cx="1600200" cy="1024128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075688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075688" y="341985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Confirm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Diagnosis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611880" y="3438144"/>
            <a:ext cx="91440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3" name="Shape 31"/>
          <p:cNvSpPr/>
          <p:nvPr/>
        </p:nvSpPr>
        <p:spPr>
          <a:xfrm>
            <a:off x="3739896" y="3035808"/>
            <a:ext cx="1600200" cy="1024128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831336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831336" y="341985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Treatment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(Prescribe)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367528" y="3438144"/>
            <a:ext cx="91440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7" name="Shape 35"/>
          <p:cNvSpPr/>
          <p:nvPr/>
        </p:nvSpPr>
        <p:spPr>
          <a:xfrm>
            <a:off x="5495544" y="3035808"/>
            <a:ext cx="1600200" cy="1024128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586984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586984" y="341985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Disposition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228600" y="4187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Disposition Options: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28600" y="4498848"/>
            <a:ext cx="2057400" cy="41148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47472" y="4544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Ward Admission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2441448" y="4498848"/>
            <a:ext cx="2057400" cy="411480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560320" y="4544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Internal Referral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654296" y="4498848"/>
            <a:ext cx="2057400" cy="411480"/>
          </a:xfrm>
          <a:prstGeom prst="rect">
            <a:avLst/>
          </a:prstGeom>
          <a:solidFill>
            <a:srgbClr val="7B380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773168" y="4544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External Referral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867144" y="4498848"/>
            <a:ext cx="2057400" cy="411480"/>
          </a:xfrm>
          <a:prstGeom prst="rect">
            <a:avLst/>
          </a:prstGeom>
          <a:solidFill>
            <a:srgbClr val="EF44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986016" y="4544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Deceased Certification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600" b="1" dirty="0">
                <a:solidFill>
                  <a:srgbClr val="FFFFFF"/>
                </a:solidFill>
              </a:rPr>
              <a:t>PHMIS Training</a:t>
            </a:r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 6: Inpatient Services (IPD)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Managing admitted patients from admission through discharge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169164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691640"/>
            <a:ext cx="2788920" cy="4754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2039112"/>
            <a:ext cx="2788920" cy="128016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75564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178308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Continuation Notes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38328" y="2240280"/>
            <a:ext cx="25786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Doctor records ward round notes. Click Continuation Notes → enter note → Submit.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172968" y="169164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72968" y="1691640"/>
            <a:ext cx="2788920" cy="4754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Shape 11"/>
          <p:cNvSpPr/>
          <p:nvPr/>
        </p:nvSpPr>
        <p:spPr>
          <a:xfrm>
            <a:off x="3172968" y="2039112"/>
            <a:ext cx="2788920" cy="128016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75564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75888" y="178308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Nursing Care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3282696" y="2240280"/>
            <a:ext cx="25786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Process admission requests. Click 'Admit Patient' or 'Transfer to another ward'. Create nursing care plans.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117336" y="169164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17336" y="1691640"/>
            <a:ext cx="2788920" cy="4754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Shape 16"/>
          <p:cNvSpPr/>
          <p:nvPr/>
        </p:nvSpPr>
        <p:spPr>
          <a:xfrm>
            <a:off x="6117336" y="2039112"/>
            <a:ext cx="2788920" cy="128016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776" y="175564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20256" y="178308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Manage Admitted Patients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6227064" y="2240280"/>
            <a:ext cx="25786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View all admitted patients. Add procedures and services. Click 'View History' to see full patient history.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228600" y="3264408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228600" y="3264408"/>
            <a:ext cx="2788920" cy="4754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Shape 21"/>
          <p:cNvSpPr/>
          <p:nvPr/>
        </p:nvSpPr>
        <p:spPr>
          <a:xfrm>
            <a:off x="228600" y="3611880"/>
            <a:ext cx="2788920" cy="128016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328416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1520" y="335584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Labour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Delivery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338328" y="3813048"/>
            <a:ext cx="25786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Record labour details. Add partograph measurements (type, hours, value, date/time). View Partograph History.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3172968" y="3264408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172968" y="3264408"/>
            <a:ext cx="2788920" cy="4754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2" name="Shape 26"/>
          <p:cNvSpPr/>
          <p:nvPr/>
        </p:nvSpPr>
        <p:spPr>
          <a:xfrm>
            <a:off x="3172968" y="3611880"/>
            <a:ext cx="2788920" cy="128016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4408" y="3328416"/>
            <a:ext cx="329184" cy="32918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675888" y="335584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Discharge Patient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3282696" y="3813048"/>
            <a:ext cx="25786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Discharge → Approve Client Discharge to complete the discharge process for the patient.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29"/>
          <p:cNvSpPr/>
          <p:nvPr/>
        </p:nvSpPr>
        <p:spPr>
          <a:xfrm>
            <a:off x="6117336" y="3264408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117336" y="3264408"/>
            <a:ext cx="2788920" cy="4754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8" name="Shape 31"/>
          <p:cNvSpPr/>
          <p:nvPr/>
        </p:nvSpPr>
        <p:spPr>
          <a:xfrm>
            <a:off x="6117336" y="3611880"/>
            <a:ext cx="2788920" cy="128016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8776" y="3328416"/>
            <a:ext cx="329184" cy="32918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620256" y="335584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Charting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3"/>
          <p:cNvSpPr/>
          <p:nvPr/>
        </p:nvSpPr>
        <p:spPr>
          <a:xfrm>
            <a:off x="6227064" y="3813048"/>
            <a:ext cx="25786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 input/output charts, turning charts, treatment charts, vital signs recordings, and blood bank records.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FontTx/>
              <a:buNone/>
              <a:defRPr/>
            </a:pPr>
            <a:r>
              <a:rPr lang="en-US" sz="2600" b="1" dirty="0">
                <a:solidFill>
                  <a:srgbClr val="FFFFFF"/>
                </a:solidFill>
              </a:rPr>
              <a:t>PHMIS Training</a:t>
            </a:r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 7: RCH  |  Module 8: Pharmacy Management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Maternal and child health services and pharmaceutical inventory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1644542"/>
            <a:ext cx="4251960" cy="32186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664208"/>
            <a:ext cx="4251960" cy="402336"/>
          </a:xfrm>
          <a:prstGeom prst="rect">
            <a:avLst/>
          </a:prstGeom>
          <a:solidFill>
            <a:srgbClr val="1E6B2E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1938528"/>
            <a:ext cx="4251960" cy="128016"/>
          </a:xfrm>
          <a:prstGeom prst="rect">
            <a:avLst/>
          </a:prstGeom>
          <a:solidFill>
            <a:srgbClr val="1E6B2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719072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04088" y="17282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Reproductive &amp; Child Health (RCH)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47472" y="21762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Enter patient MRN → select patient → fill applicable forms: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9184" y="2542032"/>
            <a:ext cx="182880" cy="182880"/>
          </a:xfrm>
          <a:prstGeom prst="rect">
            <a:avLst/>
          </a:prstGeom>
          <a:solidFill>
            <a:srgbClr val="1E6B2E"/>
          </a:solidFill>
          <a:ln/>
        </p:spPr>
        <p:txBody>
          <a:bodyPr/>
          <a:lstStyle/>
          <a:p>
            <a:endParaRPr lang="en-TZ" dirty="0"/>
          </a:p>
        </p:txBody>
      </p:sp>
      <p:sp>
        <p:nvSpPr>
          <p:cNvPr id="13" name="Text 10"/>
          <p:cNvSpPr/>
          <p:nvPr/>
        </p:nvSpPr>
        <p:spPr>
          <a:xfrm>
            <a:off x="585216" y="2532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GBV/VAC (Gender-Based Violence / Violence Against Children)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29184" y="2871216"/>
            <a:ext cx="182880" cy="182880"/>
          </a:xfrm>
          <a:prstGeom prst="rect">
            <a:avLst/>
          </a:prstGeom>
          <a:solidFill>
            <a:srgbClr val="1E6B2E"/>
          </a:solidFill>
          <a:ln/>
        </p:spPr>
        <p:txBody>
          <a:bodyPr/>
          <a:lstStyle/>
          <a:p>
            <a:endParaRPr lang="en-TZ" dirty="0"/>
          </a:p>
        </p:txBody>
      </p:sp>
      <p:sp>
        <p:nvSpPr>
          <p:cNvPr id="15" name="Text 12"/>
          <p:cNvSpPr/>
          <p:nvPr/>
        </p:nvSpPr>
        <p:spPr>
          <a:xfrm>
            <a:off x="585216" y="28620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Children Attendance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29184" y="3200400"/>
            <a:ext cx="182880" cy="182880"/>
          </a:xfrm>
          <a:prstGeom prst="rect">
            <a:avLst/>
          </a:prstGeom>
          <a:solidFill>
            <a:srgbClr val="1E6B2E"/>
          </a:solidFill>
          <a:ln/>
        </p:spPr>
      </p:sp>
      <p:sp>
        <p:nvSpPr>
          <p:cNvPr id="17" name="Text 14"/>
          <p:cNvSpPr/>
          <p:nvPr/>
        </p:nvSpPr>
        <p:spPr>
          <a:xfrm>
            <a:off x="585216" y="31912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Antenatal Form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29184" y="3529584"/>
            <a:ext cx="182880" cy="182880"/>
          </a:xfrm>
          <a:prstGeom prst="rect">
            <a:avLst/>
          </a:prstGeom>
          <a:solidFill>
            <a:srgbClr val="1E6B2E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" y="3520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Postnatal Form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29184" y="3858768"/>
            <a:ext cx="182880" cy="182880"/>
          </a:xfrm>
          <a:prstGeom prst="rect">
            <a:avLst/>
          </a:prstGeom>
          <a:solidFill>
            <a:srgbClr val="1E6B2E"/>
          </a:solidFill>
          <a:ln/>
        </p:spPr>
      </p:sp>
      <p:sp>
        <p:nvSpPr>
          <p:cNvPr id="21" name="Text 18"/>
          <p:cNvSpPr/>
          <p:nvPr/>
        </p:nvSpPr>
        <p:spPr>
          <a:xfrm>
            <a:off x="585216" y="3849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Labour and Delivery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29184" y="4187952"/>
            <a:ext cx="182880" cy="182880"/>
          </a:xfrm>
          <a:prstGeom prst="rect">
            <a:avLst/>
          </a:prstGeom>
          <a:solidFill>
            <a:srgbClr val="1E6B2E"/>
          </a:solidFill>
          <a:ln/>
        </p:spPr>
      </p:sp>
      <p:sp>
        <p:nvSpPr>
          <p:cNvPr id="23" name="Text 20"/>
          <p:cNvSpPr/>
          <p:nvPr/>
        </p:nvSpPr>
        <p:spPr>
          <a:xfrm>
            <a:off x="585216" y="4178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Vaccination Records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29184" y="4517136"/>
            <a:ext cx="182880" cy="182880"/>
          </a:xfrm>
          <a:prstGeom prst="rect">
            <a:avLst/>
          </a:prstGeom>
          <a:solidFill>
            <a:srgbClr val="1E6B2E"/>
          </a:solidFill>
          <a:ln/>
        </p:spPr>
      </p:sp>
      <p:sp>
        <p:nvSpPr>
          <p:cNvPr id="25" name="Text 22"/>
          <p:cNvSpPr/>
          <p:nvPr/>
        </p:nvSpPr>
        <p:spPr>
          <a:xfrm>
            <a:off x="585216" y="4507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Family Planning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29184" y="4811999"/>
            <a:ext cx="4069080" cy="237744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7" name="Text 24"/>
          <p:cNvSpPr/>
          <p:nvPr/>
        </p:nvSpPr>
        <p:spPr>
          <a:xfrm>
            <a:off x="420624" y="484293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65F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Forms are gender-conditional. Male patients won't see Antenatal/Postnatal forms.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663440" y="1664208"/>
            <a:ext cx="4251960" cy="32186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663440" y="1664208"/>
            <a:ext cx="4251960" cy="402336"/>
          </a:xfrm>
          <a:prstGeom prst="rect">
            <a:avLst/>
          </a:prstGeom>
          <a:solidFill>
            <a:srgbClr val="7B3800"/>
          </a:solidFill>
          <a:ln/>
        </p:spPr>
      </p:sp>
      <p:sp>
        <p:nvSpPr>
          <p:cNvPr id="30" name="Shape 27"/>
          <p:cNvSpPr/>
          <p:nvPr/>
        </p:nvSpPr>
        <p:spPr>
          <a:xfrm>
            <a:off x="4663440" y="1938528"/>
            <a:ext cx="4251960" cy="128016"/>
          </a:xfrm>
          <a:prstGeom prst="rect">
            <a:avLst/>
          </a:prstGeom>
          <a:solidFill>
            <a:srgbClr val="7B3800"/>
          </a:solidFill>
          <a:ln/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719072"/>
            <a:ext cx="310896" cy="310896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138928" y="17282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Pharmacy Management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29"/>
          <p:cNvSpPr/>
          <p:nvPr/>
        </p:nvSpPr>
        <p:spPr>
          <a:xfrm>
            <a:off x="4773168" y="2176272"/>
            <a:ext cx="146304" cy="146304"/>
          </a:xfrm>
          <a:prstGeom prst="rect">
            <a:avLst/>
          </a:prstGeom>
          <a:solidFill>
            <a:srgbClr val="7B3800"/>
          </a:solidFill>
          <a:ln/>
        </p:spPr>
      </p:sp>
      <p:sp>
        <p:nvSpPr>
          <p:cNvPr id="34" name="Text 30"/>
          <p:cNvSpPr/>
          <p:nvPr/>
        </p:nvSpPr>
        <p:spPr>
          <a:xfrm>
            <a:off x="4992624" y="21579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B38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Item Receiving: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4992624" y="23500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Receive medicines into store; add batch and quantity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2"/>
          <p:cNvSpPr/>
          <p:nvPr/>
        </p:nvSpPr>
        <p:spPr>
          <a:xfrm>
            <a:off x="4773168" y="2569464"/>
            <a:ext cx="146304" cy="146304"/>
          </a:xfrm>
          <a:prstGeom prst="rect">
            <a:avLst/>
          </a:prstGeom>
          <a:solidFill>
            <a:srgbClr val="7B3800"/>
          </a:solidFill>
          <a:ln/>
        </p:spPr>
      </p:sp>
      <p:sp>
        <p:nvSpPr>
          <p:cNvPr id="37" name="Text 33"/>
          <p:cNvSpPr/>
          <p:nvPr/>
        </p:nvSpPr>
        <p:spPr>
          <a:xfrm>
            <a:off x="4992624" y="25511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B38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Store Balance: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4"/>
          <p:cNvSpPr/>
          <p:nvPr/>
        </p:nvSpPr>
        <p:spPr>
          <a:xfrm>
            <a:off x="4992624" y="27432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Check stock levels by store and date range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5"/>
          <p:cNvSpPr/>
          <p:nvPr/>
        </p:nvSpPr>
        <p:spPr>
          <a:xfrm>
            <a:off x="4773168" y="2962656"/>
            <a:ext cx="146304" cy="146304"/>
          </a:xfrm>
          <a:prstGeom prst="rect">
            <a:avLst/>
          </a:prstGeom>
          <a:solidFill>
            <a:srgbClr val="7B3800"/>
          </a:solidFill>
          <a:ln/>
        </p:spPr>
      </p:sp>
      <p:sp>
        <p:nvSpPr>
          <p:cNvPr id="40" name="Text 36"/>
          <p:cNvSpPr/>
          <p:nvPr/>
        </p:nvSpPr>
        <p:spPr>
          <a:xfrm>
            <a:off x="4992624" y="29443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B38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Requisition and Issuing: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7"/>
          <p:cNvSpPr/>
          <p:nvPr/>
        </p:nvSpPr>
        <p:spPr>
          <a:xfrm>
            <a:off x="4992624" y="31363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Request items from main store → issue to sub-store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8"/>
          <p:cNvSpPr/>
          <p:nvPr/>
        </p:nvSpPr>
        <p:spPr>
          <a:xfrm>
            <a:off x="4773168" y="3355848"/>
            <a:ext cx="146304" cy="146304"/>
          </a:xfrm>
          <a:prstGeom prst="rect">
            <a:avLst/>
          </a:prstGeom>
          <a:solidFill>
            <a:srgbClr val="7B3800"/>
          </a:solidFill>
          <a:ln/>
        </p:spPr>
      </p:sp>
      <p:sp>
        <p:nvSpPr>
          <p:cNvPr id="43" name="Text 39"/>
          <p:cNvSpPr/>
          <p:nvPr/>
        </p:nvSpPr>
        <p:spPr>
          <a:xfrm>
            <a:off x="4992624" y="33375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B38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Dispensing: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0"/>
          <p:cNvSpPr/>
          <p:nvPr/>
        </p:nvSpPr>
        <p:spPr>
          <a:xfrm>
            <a:off x="4992624" y="35295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MRN → verify prescription dosage → dispense medication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1"/>
          <p:cNvSpPr/>
          <p:nvPr/>
        </p:nvSpPr>
        <p:spPr>
          <a:xfrm>
            <a:off x="4773168" y="3749040"/>
            <a:ext cx="146304" cy="146304"/>
          </a:xfrm>
          <a:prstGeom prst="rect">
            <a:avLst/>
          </a:prstGeom>
          <a:solidFill>
            <a:srgbClr val="7B3800"/>
          </a:solidFill>
          <a:ln/>
        </p:spPr>
      </p:sp>
      <p:sp>
        <p:nvSpPr>
          <p:cNvPr id="46" name="Text 42"/>
          <p:cNvSpPr/>
          <p:nvPr/>
        </p:nvSpPr>
        <p:spPr>
          <a:xfrm>
            <a:off x="4992624" y="37307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B38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Stock Taking: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3"/>
          <p:cNvSpPr/>
          <p:nvPr/>
        </p:nvSpPr>
        <p:spPr>
          <a:xfrm>
            <a:off x="4992624" y="392277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Physical count adjustment with adjustment type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4"/>
          <p:cNvSpPr/>
          <p:nvPr/>
        </p:nvSpPr>
        <p:spPr>
          <a:xfrm>
            <a:off x="4773168" y="4142232"/>
            <a:ext cx="146304" cy="146304"/>
          </a:xfrm>
          <a:prstGeom prst="rect">
            <a:avLst/>
          </a:prstGeom>
          <a:solidFill>
            <a:srgbClr val="7B3800"/>
          </a:solidFill>
          <a:ln/>
        </p:spPr>
      </p:sp>
      <p:sp>
        <p:nvSpPr>
          <p:cNvPr id="49" name="Text 45"/>
          <p:cNvSpPr/>
          <p:nvPr/>
        </p:nvSpPr>
        <p:spPr>
          <a:xfrm>
            <a:off x="4992624" y="41239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B38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Nearly Expired: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6"/>
          <p:cNvSpPr/>
          <p:nvPr/>
        </p:nvSpPr>
        <p:spPr>
          <a:xfrm>
            <a:off x="4992624" y="43159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List items expiring within a set date range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7"/>
          <p:cNvSpPr/>
          <p:nvPr/>
        </p:nvSpPr>
        <p:spPr>
          <a:xfrm>
            <a:off x="4773168" y="4535424"/>
            <a:ext cx="146304" cy="146304"/>
          </a:xfrm>
          <a:prstGeom prst="rect">
            <a:avLst/>
          </a:prstGeom>
          <a:solidFill>
            <a:srgbClr val="7B3800"/>
          </a:solidFill>
          <a:ln/>
        </p:spPr>
      </p:sp>
      <p:sp>
        <p:nvSpPr>
          <p:cNvPr id="52" name="Text 48"/>
          <p:cNvSpPr/>
          <p:nvPr/>
        </p:nvSpPr>
        <p:spPr>
          <a:xfrm>
            <a:off x="4992624" y="45171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B38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Dispensing Book: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49"/>
          <p:cNvSpPr/>
          <p:nvPr/>
        </p:nvSpPr>
        <p:spPr>
          <a:xfrm>
            <a:off x="4992624" y="47091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Download patient prescription history by MRN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600" b="1" dirty="0">
                <a:solidFill>
                  <a:srgbClr val="FFFFFF"/>
                </a:solidFill>
              </a:rPr>
              <a:t>PHMIS Training</a:t>
            </a:r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 9: Investigation (Lab and Radiology)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4-step quality-controlled results workflow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1719072"/>
            <a:ext cx="2084832" cy="2999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719072"/>
            <a:ext cx="2084832" cy="5669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2103120"/>
            <a:ext cx="2084832" cy="182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" y="1755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 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1764792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38328" y="23591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Sample Collection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38328" y="2743200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 Technician enters patient MRN → selects ordered test → clicks Collect → records Sample Type → saves.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313432" y="3017520"/>
            <a:ext cx="128016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Shape 11"/>
          <p:cNvSpPr/>
          <p:nvPr/>
        </p:nvSpPr>
        <p:spPr>
          <a:xfrm>
            <a:off x="2441448" y="1719072"/>
            <a:ext cx="2084832" cy="2999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441448" y="1719072"/>
            <a:ext cx="2084832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Shape 13"/>
          <p:cNvSpPr/>
          <p:nvPr/>
        </p:nvSpPr>
        <p:spPr>
          <a:xfrm>
            <a:off x="2441448" y="2103120"/>
            <a:ext cx="2084832" cy="182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4"/>
          <p:cNvSpPr/>
          <p:nvPr/>
        </p:nvSpPr>
        <p:spPr>
          <a:xfrm>
            <a:off x="2551176" y="1755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 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368" y="1764792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551176" y="23591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Results Posting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2551176" y="2743200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Enter results text in textbox ('Enter Seen Results'). For radiology: upload PDF or image (max 5MB). Click Post Results.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4526280" y="3017520"/>
            <a:ext cx="128016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Shape 18"/>
          <p:cNvSpPr/>
          <p:nvPr/>
        </p:nvSpPr>
        <p:spPr>
          <a:xfrm>
            <a:off x="4654296" y="1719072"/>
            <a:ext cx="2084832" cy="2999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654296" y="1719072"/>
            <a:ext cx="2084832" cy="566928"/>
          </a:xfrm>
          <a:prstGeom prst="rect">
            <a:avLst/>
          </a:prstGeom>
          <a:solidFill>
            <a:srgbClr val="1E6B2E"/>
          </a:solidFill>
          <a:ln/>
        </p:spPr>
      </p:sp>
      <p:sp>
        <p:nvSpPr>
          <p:cNvPr id="24" name="Shape 20"/>
          <p:cNvSpPr/>
          <p:nvPr/>
        </p:nvSpPr>
        <p:spPr>
          <a:xfrm>
            <a:off x="4654296" y="2103120"/>
            <a:ext cx="2084832" cy="182880"/>
          </a:xfrm>
          <a:prstGeom prst="rect">
            <a:avLst/>
          </a:prstGeom>
          <a:solidFill>
            <a:srgbClr val="1E6B2E"/>
          </a:solidFill>
          <a:ln/>
        </p:spPr>
      </p:sp>
      <p:sp>
        <p:nvSpPr>
          <p:cNvPr id="25" name="Text 21"/>
          <p:cNvSpPr/>
          <p:nvPr/>
        </p:nvSpPr>
        <p:spPr>
          <a:xfrm>
            <a:off x="4764024" y="1755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 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764792"/>
            <a:ext cx="320040" cy="3200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764024" y="23591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6B2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Results Approval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4764024" y="2743200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Senior lab staff: click Result Approval → view results → Approve (sends to clinician) or Reject (returns for correction).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6739128" y="3017520"/>
            <a:ext cx="128016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0" name="Shape 25"/>
          <p:cNvSpPr/>
          <p:nvPr/>
        </p:nvSpPr>
        <p:spPr>
          <a:xfrm>
            <a:off x="6867144" y="1719072"/>
            <a:ext cx="2084832" cy="2999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867144" y="1719072"/>
            <a:ext cx="2084832" cy="566928"/>
          </a:xfrm>
          <a:prstGeom prst="rect">
            <a:avLst/>
          </a:prstGeom>
          <a:solidFill>
            <a:srgbClr val="7B3800"/>
          </a:solidFill>
          <a:ln/>
        </p:spPr>
      </p:sp>
      <p:sp>
        <p:nvSpPr>
          <p:cNvPr id="32" name="Shape 27"/>
          <p:cNvSpPr/>
          <p:nvPr/>
        </p:nvSpPr>
        <p:spPr>
          <a:xfrm>
            <a:off x="6867144" y="2103120"/>
            <a:ext cx="2084832" cy="182880"/>
          </a:xfrm>
          <a:prstGeom prst="rect">
            <a:avLst/>
          </a:prstGeom>
          <a:solidFill>
            <a:srgbClr val="7B3800"/>
          </a:solidFill>
          <a:ln/>
        </p:spPr>
      </p:sp>
      <p:sp>
        <p:nvSpPr>
          <p:cNvPr id="33" name="Text 28"/>
          <p:cNvSpPr/>
          <p:nvPr/>
        </p:nvSpPr>
        <p:spPr>
          <a:xfrm>
            <a:off x="6976872" y="1755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 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3064" y="1764792"/>
            <a:ext cx="320040" cy="32004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976872" y="23591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B38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Results Review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0"/>
          <p:cNvSpPr/>
          <p:nvPr/>
        </p:nvSpPr>
        <p:spPr>
          <a:xfrm>
            <a:off x="6976872" y="2743200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Clinician: click Result Review → view approved result → click Review to accept OR Reject to send back for reposting.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1"/>
          <p:cNvSpPr/>
          <p:nvPr/>
        </p:nvSpPr>
        <p:spPr>
          <a:xfrm>
            <a:off x="228600" y="4828032"/>
            <a:ext cx="8686800" cy="256032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8" name="Text 32"/>
          <p:cNvSpPr/>
          <p:nvPr/>
        </p:nvSpPr>
        <p:spPr>
          <a:xfrm>
            <a:off x="411480" y="4846320"/>
            <a:ext cx="8321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Amendment: If results need correction after posting, use Results Amendment → re-enter approval workflow. History viewable by MRN + date range.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FontTx/>
              <a:buNone/>
              <a:defRPr/>
            </a:pPr>
            <a:r>
              <a:rPr lang="en-US" sz="2600" b="1" dirty="0">
                <a:solidFill>
                  <a:srgbClr val="FFFFFF"/>
                </a:solidFill>
              </a:rPr>
              <a:t>PHMIS Training</a:t>
            </a:r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10–12: Prime Vendor, Mortuary and Insurance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Procurement, mortuary operations, and insurance claims management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1664208"/>
            <a:ext cx="2724912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664208"/>
            <a:ext cx="2724912" cy="40233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1938528"/>
            <a:ext cx="2724912" cy="128016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71907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7512" y="172821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M10: Prime Vendor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47472" y="21762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MSD is out of stock (via ELMIS):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47472" y="2487168"/>
            <a:ext cx="2487168" cy="224028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View OOS Notifications (by invoice #)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OOS items to see what's unavailable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 Order: enter invoice # → select items → Prepare Order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Edit Order: adjust quantity / add comments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Submit to alternative supplier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09544" y="1664208"/>
            <a:ext cx="2724912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9544" y="1664208"/>
            <a:ext cx="2724912" cy="40233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Shape 12"/>
          <p:cNvSpPr/>
          <p:nvPr/>
        </p:nvSpPr>
        <p:spPr>
          <a:xfrm>
            <a:off x="3209544" y="1938528"/>
            <a:ext cx="2724912" cy="128016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71907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48456" y="172821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M11: Mortuary Services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3252132" y="2140322"/>
            <a:ext cx="2514600" cy="2542032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Corpse Registration (personal info + next-of-kin + service)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System generates Corpse Card — print for relatives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Services billed automatically via billing module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Cabinet Management: assign to cabinet slot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Post-Mortem documentation with attachments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Corpse Verification: record cause of death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Gate Pass → Print Burial Permit → Discharge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6190488" y="1664208"/>
            <a:ext cx="2724912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90488" y="1664208"/>
            <a:ext cx="2724912" cy="402336"/>
          </a:xfrm>
          <a:prstGeom prst="rect">
            <a:avLst/>
          </a:prstGeom>
          <a:solidFill>
            <a:srgbClr val="4A1078"/>
          </a:solidFill>
          <a:ln/>
        </p:spPr>
      </p:sp>
      <p:sp>
        <p:nvSpPr>
          <p:cNvPr id="21" name="Shape 17"/>
          <p:cNvSpPr/>
          <p:nvPr/>
        </p:nvSpPr>
        <p:spPr>
          <a:xfrm>
            <a:off x="6190488" y="1938528"/>
            <a:ext cx="2724912" cy="128016"/>
          </a:xfrm>
          <a:prstGeom prst="rect">
            <a:avLst/>
          </a:prstGeom>
          <a:solidFill>
            <a:srgbClr val="4A1078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719072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29400" y="172821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M12: Insurance (NHIF and CHF)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6309360" y="2130552"/>
            <a:ext cx="2487168" cy="2542032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View claims (submitted and pending) by date range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NHIF: Item Mapping — facility items ↔ NHIF catalog (must match exactly!)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CHF: Item Mapping + Claim Admin Code + URL Config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User Mapping: link staff to practitioner numbers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Store NHIF/CHF credentials securely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Demo mode and Live mode configurable separately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Wrong item mapping = INCORRECT claim data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228600" y="4956048"/>
            <a:ext cx="8686800" cy="73152"/>
          </a:xfrm>
          <a:prstGeom prst="rect">
            <a:avLst/>
          </a:prstGeom>
          <a:solidFill>
            <a:srgbClr val="1C7293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600" b="1" dirty="0">
                <a:solidFill>
                  <a:srgbClr val="FFFFFF"/>
                </a:solidFill>
              </a:rPr>
              <a:t>PHMIS Training</a:t>
            </a:r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 13: Reports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Facility operational reports and MTUHA national health reporting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1664208"/>
            <a:ext cx="4297680" cy="33101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664208"/>
            <a:ext cx="4297680" cy="5669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2075688"/>
            <a:ext cx="4297680" cy="155448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37360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7373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Facility Reports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65760" y="23317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Facility Reports → select report category → choose format → set date range → click Print.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11480" y="2816352"/>
            <a:ext cx="182880" cy="182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2798064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reports (billing, payments, collections)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11480" y="3218688"/>
            <a:ext cx="182880" cy="182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3200400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Clinical reports (OPD, IPD, RCH attendance)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11480" y="3621024"/>
            <a:ext cx="182880" cy="182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3602736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Pharmacy reports (stock, dispensing, near-expiry)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11480" y="4023360"/>
            <a:ext cx="182880" cy="182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4005072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Investigation reports (lab volumes, turnaround)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11480" y="4425696"/>
            <a:ext cx="182880" cy="182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4407408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Mortuary reports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690872" y="1664208"/>
            <a:ext cx="4297680" cy="33101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90872" y="1664208"/>
            <a:ext cx="4297680" cy="566928"/>
          </a:xfrm>
          <a:prstGeom prst="rect">
            <a:avLst/>
          </a:prstGeom>
          <a:solidFill>
            <a:srgbClr val="1E6B2E"/>
          </a:solidFill>
          <a:ln/>
        </p:spPr>
      </p:sp>
      <p:sp>
        <p:nvSpPr>
          <p:cNvPr id="24" name="Shape 21"/>
          <p:cNvSpPr/>
          <p:nvPr/>
        </p:nvSpPr>
        <p:spPr>
          <a:xfrm>
            <a:off x="4690872" y="2075688"/>
            <a:ext cx="4297680" cy="155448"/>
          </a:xfrm>
          <a:prstGeom prst="rect">
            <a:avLst/>
          </a:prstGeom>
          <a:solidFill>
            <a:srgbClr val="1E6B2E"/>
          </a:solidFill>
          <a:ln/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737360"/>
            <a:ext cx="384048" cy="38404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285232" y="17373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MTUHA Reports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4828032" y="23317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MTUHA Reports → select Instance → Dataset → Year → Period(s) → click View Report.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4873752" y="2816352"/>
            <a:ext cx="182880" cy="182880"/>
          </a:xfrm>
          <a:prstGeom prst="rect">
            <a:avLst/>
          </a:prstGeom>
          <a:solidFill>
            <a:srgbClr val="1E6B2E"/>
          </a:solidFill>
          <a:ln/>
        </p:spPr>
      </p:sp>
      <p:sp>
        <p:nvSpPr>
          <p:cNvPr id="29" name="Text 25"/>
          <p:cNvSpPr/>
          <p:nvPr/>
        </p:nvSpPr>
        <p:spPr>
          <a:xfrm>
            <a:off x="5148072" y="2798064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MTUHA = National health information reporting system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4873752" y="3218688"/>
            <a:ext cx="182880" cy="182880"/>
          </a:xfrm>
          <a:prstGeom prst="rect">
            <a:avLst/>
          </a:prstGeom>
          <a:solidFill>
            <a:srgbClr val="1E6B2E"/>
          </a:solidFill>
          <a:ln/>
        </p:spPr>
      </p:sp>
      <p:sp>
        <p:nvSpPr>
          <p:cNvPr id="31" name="Text 27"/>
          <p:cNvSpPr/>
          <p:nvPr/>
        </p:nvSpPr>
        <p:spPr>
          <a:xfrm>
            <a:off x="5148072" y="3200400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Required for government regulatory compliance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8"/>
          <p:cNvSpPr/>
          <p:nvPr/>
        </p:nvSpPr>
        <p:spPr>
          <a:xfrm>
            <a:off x="4873752" y="3621024"/>
            <a:ext cx="182880" cy="182880"/>
          </a:xfrm>
          <a:prstGeom prst="rect">
            <a:avLst/>
          </a:prstGeom>
          <a:solidFill>
            <a:srgbClr val="1E6B2E"/>
          </a:solidFill>
          <a:ln/>
        </p:spPr>
      </p:sp>
      <p:sp>
        <p:nvSpPr>
          <p:cNvPr id="33" name="Text 29"/>
          <p:cNvSpPr/>
          <p:nvPr/>
        </p:nvSpPr>
        <p:spPr>
          <a:xfrm>
            <a:off x="5148072" y="3602736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pulled from ALL clinical modules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0"/>
          <p:cNvSpPr/>
          <p:nvPr/>
        </p:nvSpPr>
        <p:spPr>
          <a:xfrm>
            <a:off x="4873752" y="4023360"/>
            <a:ext cx="182880" cy="182880"/>
          </a:xfrm>
          <a:prstGeom prst="rect">
            <a:avLst/>
          </a:prstGeom>
          <a:solidFill>
            <a:srgbClr val="1E6B2E"/>
          </a:solidFill>
          <a:ln/>
        </p:spPr>
      </p:sp>
      <p:sp>
        <p:nvSpPr>
          <p:cNvPr id="35" name="Text 31"/>
          <p:cNvSpPr/>
          <p:nvPr/>
        </p:nvSpPr>
        <p:spPr>
          <a:xfrm>
            <a:off x="5148072" y="4005072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Supports monthly and quarterly submissions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2"/>
          <p:cNvSpPr/>
          <p:nvPr/>
        </p:nvSpPr>
        <p:spPr>
          <a:xfrm>
            <a:off x="4873752" y="4425696"/>
            <a:ext cx="182880" cy="182880"/>
          </a:xfrm>
          <a:prstGeom prst="rect">
            <a:avLst/>
          </a:prstGeom>
          <a:solidFill>
            <a:srgbClr val="1E6B2E"/>
          </a:solidFill>
          <a:ln/>
        </p:spPr>
      </p:sp>
      <p:sp>
        <p:nvSpPr>
          <p:cNvPr id="37" name="Text 33"/>
          <p:cNvSpPr/>
          <p:nvPr/>
        </p:nvSpPr>
        <p:spPr>
          <a:xfrm>
            <a:off x="5148072" y="4407408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Must be submitted by MTUHA Focal Person role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4"/>
          <p:cNvSpPr/>
          <p:nvPr/>
        </p:nvSpPr>
        <p:spPr>
          <a:xfrm>
            <a:off x="228600" y="5084064"/>
            <a:ext cx="8686800" cy="0"/>
          </a:xfrm>
          <a:prstGeom prst="rect">
            <a:avLst/>
          </a:prstGeom>
          <a:solidFill>
            <a:srgbClr val="1C729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FontTx/>
              <a:buNone/>
              <a:defRPr/>
            </a:pPr>
            <a:r>
              <a:rPr lang="en-US" sz="2600" b="1" dirty="0">
                <a:solidFill>
                  <a:srgbClr val="FFFFFF"/>
                </a:solidFill>
              </a:rPr>
              <a:t>PHMIS Training</a:t>
            </a:r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Facility Setup: Correct Configuration Order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MUST be completed in sequence before clinical modules are activated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1664208"/>
            <a:ext cx="1371600" cy="603504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1700784"/>
            <a:ext cx="1316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PHASE 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System Setup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664208" y="1865376"/>
            <a:ext cx="182880" cy="12801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1874520" y="1664208"/>
            <a:ext cx="704088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74520" y="1664208"/>
            <a:ext cx="54864" cy="60350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1993392" y="1709928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 / update facility profile   •   Register Facility Administrator (via Check Number)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28600" y="2331720"/>
            <a:ext cx="1371600" cy="603504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" y="2368296"/>
            <a:ext cx="1316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PHASE 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Facility Config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664208" y="2532888"/>
            <a:ext cx="182880" cy="12801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1874520" y="2331720"/>
            <a:ext cx="704088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74520" y="2331720"/>
            <a:ext cx="54864" cy="6035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1993392" y="2377440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Item Mapping → Reception Items → Item Categories   •   Facility Item Pricing (zero for exempt items)   •   Cost Sharing → Sub Cost Sharing → Facility Cost Sharing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28600" y="2999232"/>
            <a:ext cx="1371600" cy="603504"/>
          </a:xfrm>
          <a:prstGeom prst="rect">
            <a:avLst/>
          </a:prstGeom>
          <a:solidFill>
            <a:srgbClr val="1E6B2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6032" y="3035808"/>
            <a:ext cx="1316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PHASE 3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Clinical Infra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664208" y="3200400"/>
            <a:ext cx="182880" cy="128016"/>
          </a:xfrm>
          <a:prstGeom prst="rect">
            <a:avLst/>
          </a:prstGeom>
          <a:solidFill>
            <a:srgbClr val="1E6B2E"/>
          </a:solidFill>
          <a:ln/>
        </p:spPr>
      </p:sp>
      <p:sp>
        <p:nvSpPr>
          <p:cNvPr id="21" name="Shape 19"/>
          <p:cNvSpPr/>
          <p:nvPr/>
        </p:nvSpPr>
        <p:spPr>
          <a:xfrm>
            <a:off x="1874520" y="2999232"/>
            <a:ext cx="704088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74520" y="2999232"/>
            <a:ext cx="54864" cy="603504"/>
          </a:xfrm>
          <a:prstGeom prst="rect">
            <a:avLst/>
          </a:prstGeom>
          <a:solidFill>
            <a:srgbClr val="1E6B2E"/>
          </a:solidFill>
          <a:ln/>
        </p:spPr>
      </p:sp>
      <p:sp>
        <p:nvSpPr>
          <p:cNvPr id="23" name="Text 21"/>
          <p:cNvSpPr/>
          <p:nvPr/>
        </p:nvSpPr>
        <p:spPr>
          <a:xfrm>
            <a:off x="1993392" y="3044952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Pharmacy Stores + Vendors + Reorder Levels + Tracer Meds   •   Ward Management: Types → Wards → Beds → Nurses   •   Investigation Setup: Dept Access + Item Mapping   •   Billing Setup / GEPG Payment Mode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28600" y="3666744"/>
            <a:ext cx="1371600" cy="603504"/>
          </a:xfrm>
          <a:prstGeom prst="rect">
            <a:avLst/>
          </a:prstGeom>
          <a:solidFill>
            <a:srgbClr val="7B380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56032" y="3703320"/>
            <a:ext cx="1316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PHASE 4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Insurance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664208" y="3867912"/>
            <a:ext cx="182880" cy="128016"/>
          </a:xfrm>
          <a:prstGeom prst="rect">
            <a:avLst/>
          </a:prstGeom>
          <a:solidFill>
            <a:srgbClr val="7B3800"/>
          </a:solidFill>
          <a:ln/>
        </p:spPr>
      </p:sp>
      <p:sp>
        <p:nvSpPr>
          <p:cNvPr id="27" name="Shape 25"/>
          <p:cNvSpPr/>
          <p:nvPr/>
        </p:nvSpPr>
        <p:spPr>
          <a:xfrm>
            <a:off x="1874520" y="3666744"/>
            <a:ext cx="704088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74520" y="3666744"/>
            <a:ext cx="54864" cy="603504"/>
          </a:xfrm>
          <a:prstGeom prst="rect">
            <a:avLst/>
          </a:prstGeom>
          <a:solidFill>
            <a:srgbClr val="7B3800"/>
          </a:solidFill>
          <a:ln/>
        </p:spPr>
      </p:sp>
      <p:sp>
        <p:nvSpPr>
          <p:cNvPr id="29" name="Text 27"/>
          <p:cNvSpPr/>
          <p:nvPr/>
        </p:nvSpPr>
        <p:spPr>
          <a:xfrm>
            <a:off x="1993392" y="3712464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NHIF: Credentials → Item Mapping → User Mapping   •   CHF: URL Config → Claim Admin Code → Item Mapping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28600" y="4334256"/>
            <a:ext cx="1371600" cy="603504"/>
          </a:xfrm>
          <a:prstGeom prst="rect">
            <a:avLst/>
          </a:prstGeom>
          <a:solidFill>
            <a:srgbClr val="4A107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56032" y="4370832"/>
            <a:ext cx="1316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PHASE 5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Live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664208" y="4535424"/>
            <a:ext cx="182880" cy="128016"/>
          </a:xfrm>
          <a:prstGeom prst="rect">
            <a:avLst/>
          </a:prstGeom>
          <a:solidFill>
            <a:srgbClr val="4A1078"/>
          </a:solidFill>
          <a:ln/>
        </p:spPr>
      </p:sp>
      <p:sp>
        <p:nvSpPr>
          <p:cNvPr id="33" name="Shape 31"/>
          <p:cNvSpPr/>
          <p:nvPr/>
        </p:nvSpPr>
        <p:spPr>
          <a:xfrm>
            <a:off x="1874520" y="4334256"/>
            <a:ext cx="704088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874520" y="4334256"/>
            <a:ext cx="54864" cy="603504"/>
          </a:xfrm>
          <a:prstGeom prst="rect">
            <a:avLst/>
          </a:prstGeom>
          <a:solidFill>
            <a:srgbClr val="4A1078"/>
          </a:solidFill>
          <a:ln/>
        </p:spPr>
      </p:sp>
      <p:sp>
        <p:nvSpPr>
          <p:cNvPr id="35" name="Text 33"/>
          <p:cNvSpPr/>
          <p:nvPr/>
        </p:nvSpPr>
        <p:spPr>
          <a:xfrm>
            <a:off x="1993392" y="4379976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Backlogs Import (historical patients if needed)   •   Departmental Access assignments for all users   •   Investigation Dept Access for lab/radiology staff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28600" y="5029200"/>
            <a:ext cx="8686800" cy="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7" name="Shape 35"/>
          <p:cNvSpPr/>
          <p:nvPr/>
        </p:nvSpPr>
        <p:spPr>
          <a:xfrm>
            <a:off x="228600" y="5029200"/>
            <a:ext cx="8686800" cy="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FontTx/>
              <a:buNone/>
              <a:defRPr/>
            </a:pPr>
            <a:r>
              <a:rPr lang="en-US" sz="2600" b="1" dirty="0">
                <a:solidFill>
                  <a:srgbClr val="FFFFFF"/>
                </a:solidFill>
              </a:rPr>
              <a:t>PHMIS Training</a:t>
            </a:r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Security and Password Management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Protecting patient data — legal obligation under Tanzania Data Protection Act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169164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691640"/>
            <a:ext cx="278892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2029968"/>
            <a:ext cx="2788920" cy="118872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755648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04088" y="17830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Strong Passwords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38328" y="2221992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uppercase, lowercase, numbers and special characters. Minimum 8 characters. Change every 3–6 months.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172968" y="169164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72968" y="1691640"/>
            <a:ext cx="2788920" cy="457200"/>
          </a:xfrm>
          <a:prstGeom prst="rect">
            <a:avLst/>
          </a:prstGeom>
          <a:solidFill>
            <a:srgbClr val="7B3800"/>
          </a:solidFill>
          <a:ln/>
        </p:spPr>
      </p:sp>
      <p:sp>
        <p:nvSpPr>
          <p:cNvPr id="14" name="Shape 11"/>
          <p:cNvSpPr/>
          <p:nvPr/>
        </p:nvSpPr>
        <p:spPr>
          <a:xfrm>
            <a:off x="3172968" y="2029968"/>
            <a:ext cx="2788920" cy="118872"/>
          </a:xfrm>
          <a:prstGeom prst="rect">
            <a:avLst/>
          </a:prstGeom>
          <a:solidFill>
            <a:srgbClr val="7B3800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755648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48456" y="17830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Credential Sharing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3282696" y="2221992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NEVER share your username or password. Each action is attributed to your account. You are responsible.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117336" y="169164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17336" y="1691640"/>
            <a:ext cx="278892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Shape 16"/>
          <p:cNvSpPr/>
          <p:nvPr/>
        </p:nvSpPr>
        <p:spPr>
          <a:xfrm>
            <a:off x="6117336" y="2029968"/>
            <a:ext cx="2788920" cy="118872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776" y="175564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92824" y="17830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Role-Based Access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6227064" y="2221992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Access only modules relevant to your role. Do not attempt to access systems outside your authorization.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228600" y="3264408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228600" y="3264408"/>
            <a:ext cx="2788920" cy="457200"/>
          </a:xfrm>
          <a:prstGeom prst="rect">
            <a:avLst/>
          </a:prstGeom>
          <a:solidFill>
            <a:srgbClr val="1E6B2E"/>
          </a:solidFill>
          <a:ln/>
        </p:spPr>
      </p:sp>
      <p:sp>
        <p:nvSpPr>
          <p:cNvPr id="26" name="Shape 21"/>
          <p:cNvSpPr/>
          <p:nvPr/>
        </p:nvSpPr>
        <p:spPr>
          <a:xfrm>
            <a:off x="228600" y="3602736"/>
            <a:ext cx="2788920" cy="118872"/>
          </a:xfrm>
          <a:prstGeom prst="rect">
            <a:avLst/>
          </a:prstGeom>
          <a:solidFill>
            <a:srgbClr val="1E6B2E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328416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4088" y="33558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Secure Devices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338328" y="3794760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Lock your computer when away. Do not leave patient data visible on unattended screens.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3172968" y="3264408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172968" y="3264408"/>
            <a:ext cx="2788920" cy="457200"/>
          </a:xfrm>
          <a:prstGeom prst="rect">
            <a:avLst/>
          </a:prstGeom>
          <a:solidFill>
            <a:srgbClr val="4A1078"/>
          </a:solidFill>
          <a:ln/>
        </p:spPr>
      </p:sp>
      <p:sp>
        <p:nvSpPr>
          <p:cNvPr id="32" name="Shape 26"/>
          <p:cNvSpPr/>
          <p:nvPr/>
        </p:nvSpPr>
        <p:spPr>
          <a:xfrm>
            <a:off x="3172968" y="3602736"/>
            <a:ext cx="2788920" cy="118872"/>
          </a:xfrm>
          <a:prstGeom prst="rect">
            <a:avLst/>
          </a:prstGeom>
          <a:solidFill>
            <a:srgbClr val="4A1078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4408" y="3328416"/>
            <a:ext cx="310896" cy="31089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648456" y="33558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Phishing Awareness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3282696" y="3794760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Verify all links and emails. PHMIS only sends OTPs — never sends links asking for passwords.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29"/>
          <p:cNvSpPr/>
          <p:nvPr/>
        </p:nvSpPr>
        <p:spPr>
          <a:xfrm>
            <a:off x="6117336" y="3264408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117336" y="3264408"/>
            <a:ext cx="278892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8" name="Shape 31"/>
          <p:cNvSpPr/>
          <p:nvPr/>
        </p:nvSpPr>
        <p:spPr>
          <a:xfrm>
            <a:off x="6117336" y="3602736"/>
            <a:ext cx="2788920" cy="118872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8776" y="3328416"/>
            <a:ext cx="310896" cy="31089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592824" y="33558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OTP Recovery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3"/>
          <p:cNvSpPr/>
          <p:nvPr/>
        </p:nvSpPr>
        <p:spPr>
          <a:xfrm>
            <a:off x="6227064" y="3794760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you forget your password: click Forgot Password → enter username → OTP is sent to your email AND phone.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428593"/>
            <a:ext cx="8641080" cy="457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925987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2980" y="1577340"/>
            <a:ext cx="77911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Started: System Walkthrough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32981" y="2457607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homepage navigation and password recovery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2.1 – Accessing </a:t>
            </a:r>
            <a:r>
              <a:rPr lang="en-US" b="1" dirty="0">
                <a:solidFill>
                  <a:srgbClr val="FFFFFF"/>
                </a:solidFill>
              </a:rPr>
              <a:t>P</a:t>
            </a:r>
            <a:r>
              <a:rPr lang="en-US" sz="1800" b="1" dirty="0">
                <a:solidFill>
                  <a:srgbClr val="FFFFFF"/>
                </a:solidFill>
              </a:rPr>
              <a:t>HMIS and Login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480560" y="777240"/>
            <a:ext cx="45262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20040" y="777240"/>
            <a:ext cx="4069080" cy="3931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web browser and navigate to:192.168.......</a:t>
            </a:r>
            <a:endParaRPr lang="en-US" sz="1300" dirty="0"/>
          </a:p>
          <a:p>
            <a:pPr>
              <a:spcAft>
                <a:spcPts val="600"/>
              </a:spcAft>
              <a:buSzPct val="100000"/>
            </a:pP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PHMIS homepage displays available service modules as clickable tiles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Sign In button (top-right corner, highlighted in red) to proceed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registered Username and Password on the login screen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Login — the system validates your credentials and loads your dashboard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name, facility, and role are displayed in the left sidebar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481888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976D2"/>
                </a:solidFill>
              </a:rPr>
              <a:t>💡 Tip: Ensure you are using a stable internet connection before logging in.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3E3E42-0768-DA05-1DD7-539AD9277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383" y="701174"/>
            <a:ext cx="4617719" cy="411145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2.1 – System Dashboard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480560" y="777240"/>
            <a:ext cx="45262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20040" y="777240"/>
            <a:ext cx="4069080" cy="3931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login, the main Dashboard displays your facility name and location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sidebar shows navigation menus based on your assigned role (RBAC)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menus include: System Settings, User Management, Reports, Triage, etc.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profile photo, name, and department appear at the top of the sidebar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Home icon (top breadcrumb) to return to the main dashboard anytime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bell icon alerts you to pending tasks and system messages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481888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976D2"/>
                </a:solidFill>
              </a:rPr>
              <a:t>💡 Role-Based Access Control (RBAC) ensures each user only sees permitted menus.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8E1816-220A-6314-6031-5CC3C3B5AD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80560" y="777240"/>
            <a:ext cx="452628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2.2 – Password Recovery and Security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480560" y="777240"/>
            <a:ext cx="45262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777240"/>
            <a:ext cx="4069080" cy="3931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login page, click Forgot Password? link below the login button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security Questions from NIDA Information 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successful Security Test you can continue with next step 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strong new password following the complexity requirements: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8 characters with uppercase, lowercase, numbers and symbols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Change your default password on first login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your password with colleagues; each user has individual credentials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481888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976D2"/>
                </a:solidFill>
              </a:rPr>
              <a:t>💡 Contact your System Administrator if you do not receive the OTP email.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0" y="841248"/>
            <a:ext cx="21031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841248"/>
            <a:ext cx="2103120" cy="347472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8412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 strong passwords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90288" y="1252728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Min 8 chars, mixed case, numbers  symbols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20840" y="841248"/>
            <a:ext cx="21031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20840" y="841248"/>
            <a:ext cx="2103120" cy="34747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8412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Keep credentials private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30568" y="1252728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Never share your username or password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2807208"/>
            <a:ext cx="21031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2807208"/>
            <a:ext cx="2103120" cy="34747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28072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Log out after use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90288" y="3218688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Always sign out when leaving the workstation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2807208"/>
            <a:ext cx="21031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0840" y="2807208"/>
            <a:ext cx="2103120" cy="34747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28072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Report suspicious access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30568" y="3218688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Notify admin of any unauthorized activity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851660"/>
            <a:ext cx="8641080" cy="457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Settings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management, pharmacy, ward, billing and user setup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3.1.2 – Facility Item Mapping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480560" y="777240"/>
            <a:ext cx="45262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20040" y="777240"/>
            <a:ext cx="4069080" cy="3931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to: System Settings → Facility Management → Facility Item Mapping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screen lists all service items available for your facility (e.g., 39 items shown)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 shows: Name, Code, and Cost Sharing category (User Fee or Insurance)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Check/uncheck items to enable or disable them for your facility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+ Create button (top-right) to open the item mapping dialog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items from the list and assign appropriate Cost Sharing names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Save to confirm the mapping — unchecked items (e.g., NHIF) will not appear in billing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481888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976D2"/>
                </a:solidFill>
              </a:rPr>
              <a:t>💡 Ensure facility items are correctly mapped before processing any patient bills.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CA761E-DCCB-A68C-86EB-E8A2A6A825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08745" y="777241"/>
            <a:ext cx="4935255" cy="393191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3.2.1 – Pharmacy Store Setup and Access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480560" y="777240"/>
            <a:ext cx="45262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20040" y="777240"/>
            <a:ext cx="4069080" cy="3931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to: System Settings → Pharmacy Setup → Stores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 Stores screen lists all configured stores (Main Store, Sub Store, Dispensing)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Grant Access to assign users access permissions to a specific store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Permission Management panel allows selecting: Grant Access (Yes/No)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Access Type: Full Access (view &amp; edit) or Partial Access (view only)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users by at least 3 characters in the filter box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user from the list and click Save to apply permissions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481888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976D2"/>
                </a:solidFill>
              </a:rPr>
              <a:t>💡 Only users with Full Access can perform stock transactions in the assigned store.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808038-8AD7-9FEA-95B6-224F335C6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0164" y="704088"/>
            <a:ext cx="4816258" cy="405079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3.2.3 – Pharmacy Reorder Levels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480560" y="777240"/>
            <a:ext cx="45262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20040" y="777240"/>
            <a:ext cx="4069080" cy="3931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to: System Settings → Pharmacy Setup → Reorder Levels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Item Reordering Management screen lists medicines with low-stock alerts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highlighted in red have fallen below their defined reorder threshold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+ Add New (top-right) to configure a reorder level for a new item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the facility item (minimum 3 characters) in the search box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Given Units (reorder quantity threshold) and click SAVE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triggers alerts when pharmacy stock falls below the configured minimum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481888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976D2"/>
                </a:solidFill>
              </a:rPr>
              <a:t>💡 Regularly review reorder levels to prevent stock-outs of essential medicines.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2D336B-7BA7-DAA5-D020-547CF636D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638" y="704088"/>
            <a:ext cx="4818763" cy="40919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3.3.2 – Ward List Management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480560" y="777240"/>
            <a:ext cx="45262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20040" y="777240"/>
            <a:ext cx="4069080" cy="3931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to: System Settings → Ward Management → Wards List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all registered wards with: Ward Code, Name, Type, Creator and Date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types include: OPD, Male/Female General, Surgical, Paediatric, etc.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+ Create Ward (top-right) to register a new hospital ward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Action menu (⋮) to Update, manage Beds, or Assign Nurse to a ward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management allows setting total capacity per ward for admission tracking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assignment links nursing staff to specific wards for accountability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481888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976D2"/>
                </a:solidFill>
              </a:rPr>
              <a:t>💡 Ward setup must be completed before any inpatient admissions can be processed.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C97869-70E6-0FE9-CA3A-5FED91035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01" y="777240"/>
            <a:ext cx="4791206" cy="401878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779009"/>
            <a:ext cx="8641080" cy="457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Management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registration, verification and visit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4.3 – Advanced Client Search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480560" y="777240"/>
            <a:ext cx="45262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20040" y="777240"/>
            <a:ext cx="4069080" cy="3931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to: Client Management → Advanced Search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Advanced Filter to search across multiple criteria simultaneously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Criteria options: MRN, Mobile Number, First Name, Middle Name, Last Name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date ranges (From Date / End Date) to narrow results by visit period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 field allows age-based filtering for patient lookup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+ to add multiple search criteria in a single query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Search button to display matching patient records in the results table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show: Client Name, MRN, Gender, Birth Date, and Age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481888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976D2"/>
                </a:solidFill>
              </a:rPr>
              <a:t>💡 Use MRN (Medical Record Number) for the fastest and most accurate patient lookup.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ED27FE-C58D-3D7F-D1E2-186083A56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495" y="777240"/>
            <a:ext cx="4842876" cy="402335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783080"/>
            <a:ext cx="8641080" cy="457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06–07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Outpatient and Inpatient Services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Consultation, diagnosis, treatment, admission and discharge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8.0 – Inpatient Service: Ward Selection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480560" y="777240"/>
            <a:ext cx="45262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20040" y="777240"/>
            <a:ext cx="4069080" cy="3931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to: Inpatient Service → Consultation (IPD Consultation)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Select Ward to choose the appropriate inpatient ward for admission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dialog lists available wards: OPD WARD, Male General, Female, Male, Wodi Ya Watoto, etc.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ward that matches the patient's condition and bed availability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list (multiple pages) allows browsing all configured wards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selecting a ward, search for the patient using MRN or name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Inpatient menus become active: Nursing Care, Continuation Notes, Manage Patients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481888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976D2"/>
                </a:solidFill>
              </a:rPr>
              <a:t>💡 Ensure bed availability is checked before selecting a ward for admission.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EFC19E-871E-A8E2-BFE0-D8011C973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797" y="772668"/>
            <a:ext cx="4833481" cy="40462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943100"/>
            <a:ext cx="8641080" cy="457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Pharmacy Management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receiving, requisition, dispensing and inventory control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10.3 – Requisition and Issuing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480560" y="777240"/>
            <a:ext cx="45262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20040" y="777240"/>
            <a:ext cx="4069080" cy="3931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to: Pharmacy Management → Requisition &amp; Issuing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+ Create New Requisition to initiate a stock request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Requisition Type: Internal Store (within facility) or External Store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Internal: choose the Requested Store and the Requesting Store from dropdowns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the item (medicine/supply) in the Select an Item field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Stock Balance (auto-filled) and enter Quantity Requested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Add Item to include it in the requisition, then add more items as needed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 to submit the requisition for approval and issuing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481888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976D2"/>
                </a:solidFill>
              </a:rPr>
              <a:t>💡 Internal requisitions are processed within the facility; external ones go to Prime Vendor.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A878D-22E3-8516-B7AF-9CAD101C7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956" y="772668"/>
            <a:ext cx="4885151" cy="393649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10.5 – Medicine Dispensing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20040" y="777240"/>
            <a:ext cx="4069080" cy="3931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to: Pharmacy Management → Dispensing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Dispensing Store from the dropdown (e.g., ngamiani disp)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status: INITIATED, VERIFIED, DISPENSED, or REJECTED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prescriptions appear in the List of Registered Patients table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Prescribed button next to a patient to open their prescription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Select Action menu choose: VERIFY to confirm the prescription is correct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verification, dispense the medicines and update quantities in the system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REJECT option if prescription has errors — document the reason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481888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976D2"/>
                </a:solidFill>
              </a:rPr>
              <a:t>💡 Always verify the patient MRN matches the prescription before dispensing.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9373B7-D75E-3567-7D5A-5BB7836EC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742" y="827657"/>
            <a:ext cx="4684109" cy="381949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805940"/>
            <a:ext cx="8641080" cy="457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09 · 11 · 13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Investigation, RCH and Mortuary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Lab/radiology results, maternal health records and mortuary services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9.0 – RCH (Reproductive and Child Health)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20040" y="777240"/>
            <a:ext cx="4069080" cy="3931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to: RCH from the left sidebar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form type from the left panel: Child Attendency, Postnatal, Antenatal, Labour and Delivery, Vaccination, or Family Planning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selected form is highlighted in blue (e.g., Child Attendency shown)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Child Attendency: enter Jina la Mama (Mother's Name) and vaccination status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marked with * are mandatory — the form cannot be saved without them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HEID no field captures the child's health identifier for tracking purposes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Save to commit the record; use Reset to clear the form if needed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481888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976D2"/>
                </a:solidFill>
              </a:rPr>
              <a:t>💡 RCH data feeds into MTUHA reports for national maternal and child health statistics.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9D4A16-5FC8-C9D5-D828-5334BB530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375" y="697991"/>
            <a:ext cx="4872625" cy="410837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13.0 – Mortuary Services: Corpse Management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20040" y="777240"/>
            <a:ext cx="4069080" cy="3931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to: Mortuary Service → Corpse Registration → Corpse Management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Corpse Taker form captures details of the person collecting the body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fields: Full Name, Gender, Client Phone Number, Residence Area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fields: Transport, Country, Occupation, Relationship to deceased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Taker's Identity and Relative status must be documented for records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Other Information rich-text box for supplementary notes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Funeral Area to record destination for post-release tracking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Corpse Taker button to finalize the release and update cabinet status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481888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976D2"/>
                </a:solidFill>
              </a:rPr>
              <a:t>💡 All corpse releases must be fully documented before the cabinet is marked as vacant.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F64BF2-93E5-5683-8A03-8C9516855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060" y="691562"/>
            <a:ext cx="4878887" cy="405079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874520"/>
            <a:ext cx="8641080" cy="457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14–15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and Reports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NHIF/CHF claims processing and facility reporting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15.0 – Reports Available in GOTHOMIS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60520" cy="384048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Facility Reports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52728"/>
            <a:ext cx="3886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• Daily Patient Census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• Outpatient Statistics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• Inpatient Occupancy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• Revenue Summary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• Drug Consumption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• Staff Performance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22960"/>
            <a:ext cx="4160520" cy="38404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82296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MTUHA Reports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252728"/>
            <a:ext cx="3886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• OPD Register (Form 053)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• IPD Register (Form 041)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• MCH Register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• Pharmacy Consumption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• Laboratory Results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• Disease Surveillance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80360"/>
            <a:ext cx="4160520" cy="384048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88036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Insurance Reports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310128"/>
            <a:ext cx="3886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• NHIF Claims Summary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• CHF Enrollment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• Insurance Revenue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• Pending Claims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• Approved Claims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• Claims Rejection Analysis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80360"/>
            <a:ext cx="4160520" cy="38404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288036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Management Reports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310128"/>
            <a:ext cx="3886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• User Activity Log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• Stock Movement Report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• Mortuary Register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• Prime Vendor Orders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• Investigation Turnaround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• Facility Comparison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481888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976D2"/>
                </a:solidFill>
              </a:rPr>
              <a:t>💡 Reports can be filtered by date range, facility, department and user.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Quick Reference: Key Workflows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5196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251960" cy="301752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Patient Registration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161288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Client Mgmt → Client Registration → Fill Form → Save → MRN Assigned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425196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74520"/>
            <a:ext cx="4251960" cy="301752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874520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Outpatient Flow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2212848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Triage (Vitals) → Consultation → Diagnosis → Investigation → Treatment → Disposition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25196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26080"/>
            <a:ext cx="4251960" cy="301752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926080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Bill Payment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" y="3264408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Bill Payments → Pending Bills → Select Patient → Verify → Process Payment → Print Receipt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977640"/>
            <a:ext cx="425196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977640"/>
            <a:ext cx="4251960" cy="301752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977640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Dispense Medicine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4315968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Pharmacy → Dispensing → Select Store → Find Prescription → Verify → Dispense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822960"/>
            <a:ext cx="425196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822960"/>
            <a:ext cx="4251960" cy="30175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822960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Post Lab Results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00600" y="1161288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Investigation → Lab Results Posting → Enter Results → Approve → Available to Clinician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1874520"/>
            <a:ext cx="425196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874520"/>
            <a:ext cx="4251960" cy="30175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1874520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Generate Report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00600" y="2212848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Reports → Select Report Type → Set Date Filter → Generate → Export/Print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926080"/>
            <a:ext cx="425196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926080"/>
            <a:ext cx="4251960" cy="30175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2926080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Admit Patient (IPD)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00600" y="3264408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Inpatient Service → Select Ward → Search Patient → Consultation → Nursing Care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3977640"/>
            <a:ext cx="425196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977640"/>
            <a:ext cx="4251960" cy="30175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3977640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Corpse Release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00600" y="4315968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Mortuary → Corpse Registration → Select Corpse → Corpse Management → Corpse Taker → Save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32050C-6445-A4C6-9D76-7B7F0C7C5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>
            <a:extLst>
              <a:ext uri="{FF2B5EF4-FFF2-40B4-BE49-F238E27FC236}">
                <a16:creationId xmlns:a16="http://schemas.microsoft.com/office/drawing/2014/main" id="{FCF5D05D-251D-8A09-8246-2C901F0EB94B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n-US" b="1" kern="0" spc="200" dirty="0">
              <a:solidFill>
                <a:schemeClr val="bg1"/>
              </a:solidFill>
            </a:endParaRPr>
          </a:p>
          <a:p>
            <a:r>
              <a:rPr lang="en-US" b="1" kern="0" spc="200" dirty="0">
                <a:solidFill>
                  <a:schemeClr val="bg1"/>
                </a:solidFill>
              </a:rPr>
              <a:t>KEY REMINDERS</a:t>
            </a:r>
            <a:endParaRPr lang="en-US" dirty="0">
              <a:solidFill>
                <a:schemeClr val="bg1"/>
              </a:solidFill>
            </a:endParaRPr>
          </a:p>
          <a:p>
            <a:endParaRPr lang="en-TZ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CBEE06-2B48-690B-E5B4-43F3A40950F6}"/>
              </a:ext>
            </a:extLst>
          </p:cNvPr>
          <p:cNvSpPr txBox="1"/>
          <p:nvPr/>
        </p:nvSpPr>
        <p:spPr>
          <a:xfrm>
            <a:off x="81419" y="691443"/>
            <a:ext cx="6043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are now equipped to use PHMIS effectively for your role</a:t>
            </a:r>
            <a:endParaRPr lang="en-TZ" dirty="0"/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E75D3159-09F6-B10F-176A-82671503C0D3}"/>
              </a:ext>
            </a:extLst>
          </p:cNvPr>
          <p:cNvSpPr/>
          <p:nvPr/>
        </p:nvSpPr>
        <p:spPr>
          <a:xfrm>
            <a:off x="427137" y="1201497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/>
              </a:rPr>
              <a:t>Always use MRN to look up patients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BF163D-9B7B-97E8-D3C2-735D9264230E}"/>
              </a:ext>
            </a:extLst>
          </p:cNvPr>
          <p:cNvSpPr txBox="1"/>
          <p:nvPr/>
        </p:nvSpPr>
        <p:spPr>
          <a:xfrm>
            <a:off x="325677" y="1772526"/>
            <a:ext cx="5755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Bills must be settled before clinical consultation</a:t>
            </a:r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DB769DA2-D3B3-06B6-7E66-A6271FE5AF56}"/>
              </a:ext>
            </a:extLst>
          </p:cNvPr>
          <p:cNvSpPr/>
          <p:nvPr/>
        </p:nvSpPr>
        <p:spPr>
          <a:xfrm>
            <a:off x="588598" y="239472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marR="0" lvl="0" indent="-2857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latin typeface="Calibri" panose="020F0502020204030204"/>
              </a:rPr>
              <a:t>Never share your login credentials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5E0CCB8-9995-712E-A9E9-E62AAD1404BD}"/>
              </a:ext>
            </a:extLst>
          </p:cNvPr>
          <p:cNvSpPr txBox="1"/>
          <p:nvPr/>
        </p:nvSpPr>
        <p:spPr>
          <a:xfrm>
            <a:off x="325676" y="2829478"/>
            <a:ext cx="5755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Contact your facility administrator for access issues</a:t>
            </a:r>
          </a:p>
        </p:txBody>
      </p:sp>
    </p:spTree>
    <p:extLst>
      <p:ext uri="{BB962C8B-B14F-4D97-AF65-F5344CB8AC3E}">
        <p14:creationId xmlns:p14="http://schemas.microsoft.com/office/powerpoint/2010/main" val="42577628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FC107"/>
          </a:solidFill>
          <a:ln/>
        </p:spPr>
      </p:sp>
      <p:pic>
        <p:nvPicPr>
          <p:cNvPr id="5" name="Image 0" descr="/home/claude/unpacked/word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"/>
            <a:ext cx="731520" cy="731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3716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8" name="Text 4"/>
          <p:cNvSpPr/>
          <p:nvPr/>
        </p:nvSpPr>
        <p:spPr>
          <a:xfrm>
            <a:off x="1371600" y="23317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90CAF9"/>
                </a:solidFill>
              </a:rPr>
              <a:t>P</a:t>
            </a:r>
            <a:r>
              <a:rPr lang="en-US" sz="1800" dirty="0">
                <a:solidFill>
                  <a:srgbClr val="90CAF9"/>
                </a:solidFill>
              </a:rPr>
              <a:t>HMIS  – User Training Guide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1371600" y="2971800"/>
            <a:ext cx="6400800" cy="36576"/>
          </a:xfrm>
          <a:prstGeom prst="rect">
            <a:avLst/>
          </a:prstGeom>
          <a:solidFill>
            <a:srgbClr val="2979FF"/>
          </a:solidFill>
          <a:ln/>
        </p:spPr>
      </p:sp>
      <p:sp>
        <p:nvSpPr>
          <p:cNvPr id="10" name="Text 6"/>
          <p:cNvSpPr/>
          <p:nvPr/>
        </p:nvSpPr>
        <p:spPr>
          <a:xfrm>
            <a:off x="1371600" y="31546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200" dirty="0">
                <a:solidFill>
                  <a:srgbClr val="BBDEFB"/>
                </a:solidFill>
              </a:rPr>
              <a:t>System URL: 192.168.0.......</a:t>
            </a:r>
            <a:endParaRPr lang="en-US" sz="12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200" dirty="0">
                <a:solidFill>
                  <a:srgbClr val="BBDEFB"/>
                </a:solidFill>
              </a:rPr>
              <a:t>Prepared by: ICT Chiefdom-PHQ</a:t>
            </a:r>
            <a:endParaRPr lang="en-US" sz="12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200" dirty="0">
                <a:solidFill>
                  <a:srgbClr val="BBDEFB"/>
                </a:solidFill>
              </a:rPr>
              <a:t>For support: Health Command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2E0854-4DB0-1F05-7B04-B7635FBCDB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6552" y="85072"/>
            <a:ext cx="852188" cy="8521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2904</TotalTime>
  <Words>4212</Words>
  <Application>Microsoft Office PowerPoint</Application>
  <PresentationFormat>On-screen Show (16:9)</PresentationFormat>
  <Paragraphs>673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GOTHOMIS Central – Training Guide</dc:title>
  <dc:subject>PptxGenJS Presentation</dc:subject>
  <dc:creator>PptxGenJS</dc:creator>
  <cp:lastModifiedBy>STANSLAUS MLANGWA</cp:lastModifiedBy>
  <cp:revision>17</cp:revision>
  <dcterms:created xsi:type="dcterms:W3CDTF">2026-05-04T15:01:06Z</dcterms:created>
  <dcterms:modified xsi:type="dcterms:W3CDTF">2026-05-18T09:50:28Z</dcterms:modified>
</cp:coreProperties>
</file>